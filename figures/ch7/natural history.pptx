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873"/>
    <p:restoredTop sz="94658"/>
  </p:normalViewPr>
  <p:slideViewPr>
    <p:cSldViewPr snapToGrid="0">
      <p:cViewPr varScale="1">
        <p:scale>
          <a:sx n="115" d="100"/>
          <a:sy n="115" d="100"/>
        </p:scale>
        <p:origin x="4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46A60-255F-684C-A684-CC10752AAD30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21DC8-4B43-6B4D-ADAB-36FE37755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92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21DC8-4B43-6B4D-ADAB-36FE37755F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09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FF0F3-0B88-DC55-9BCF-2C6636F13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D45D3-7015-E58C-CC50-166DB1CD5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A9B2C-E3FD-D058-EBA7-E2E6EC9A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495C0-E2B3-497E-F76A-C7743555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F1946-E17A-9FF3-43E6-6F240941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79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D25F-D15B-6A69-883D-FD6105AD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4FC30-C80C-6BD3-6216-1A989A588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4BF2E-93E4-B42C-00C3-E7ED8F359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F7A2F-7FFD-7FED-6B5E-F9B1C245D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0B5D7-0DE8-7AD2-B10E-E6E4BB43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9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B956-E5CC-75F8-6147-EFC1D714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D06B-495E-ECC5-3CC5-9B8CB6F48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9086F-9297-5431-56DE-D150BE654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096C7-00DF-BF67-DB06-1C4B2A2C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D96D7-D220-ADC9-451B-BD607ABC9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08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D892-B6F3-F90A-B11D-46E10237A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E885C-93DE-9D1F-FFE7-681AA1A41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730CA-E789-4820-B137-31A817DE6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1E2C7-B515-4BEE-25B2-CAF4CB6A4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EFC4F-6835-7C6C-C82C-C99DF7D9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40156-70F7-16A5-6053-8BF895803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93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FE0FF-968D-8699-209B-121D5089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1A4A5-779D-BD8E-D358-35FE653C6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35D77-CCA4-07F8-D20E-EF52A61AC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0F5C4-7472-4400-501E-10C17AD06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9F10CD-8243-F2E9-182E-1934612E2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C0149-BF6E-FBEF-1EC0-261F1C7D3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4F666-F98A-7E0A-E86E-D652734A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6749DD-F764-2FA2-446C-F43ABB26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3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830A-31F1-7D47-8169-3D4F7882F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D1E8-3283-DA91-F619-952ADE26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C6485-C2FF-7252-6C9C-3899E6783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E4C5E-C120-CF17-873F-2FE487F3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93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EDA3A2-EA42-EFE2-9113-A0D97E21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B19510-CFB4-4578-F7C9-F2AFCA5A9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04333-0882-9CF3-2135-D3F7CF1A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58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6D35-7067-43B8-BD54-1BAD5A59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E8F17-B2C0-9260-05AB-9D44141E3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4CB14-EA1D-57AD-B84B-5DFDC80EE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9B2F3-DD75-F184-4595-6A0F77EE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C74F5-B4F1-A6E5-9D6E-331DF395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57897-6DEC-5C8A-905E-43D7BE23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5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41A7-0895-4811-4CCB-BB92E0060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FCFFD-2D4F-BD32-5644-802C9B25BA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025D9-6EC8-5783-5D36-372CB75C4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638DC-654C-6A2B-92FC-FF28D12CB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F05F1-20A1-2A0A-48AF-599119879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C082C-AF09-49E3-038F-83CC2660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3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145D-1DA4-D82A-98B5-D4694BDA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B0E9FF-2E90-FFBA-32D7-1E53FAB70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57B88-CC32-DBE2-7AF8-8F4B8234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FCDC8-5146-EEA9-7F4B-C67811FDB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C138E-F618-2278-12D2-BF729EEE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0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9133E-0A60-C3DC-9CEF-EF6812D83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7013DC-1651-6893-A8B4-A67F65C45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A6B11-46AB-E363-04D4-1CDB589EC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07E6F-723B-50FC-D002-859BBB0A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3E045-9D53-371C-3F13-6E97DA32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32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DC50F-21E4-66F7-3775-BB163809D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B9FA8-C33D-CABB-4A50-4CA279D5B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3A409-B6B8-52BF-AA37-CE4289D9A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17EAB-2A75-D149-9D07-4B5426996BDE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805B7-5551-72BE-F095-9A13FE936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D80ED-7586-F4C5-F989-654A45469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B57EB-9A90-E240-BDF9-A1B0D60E3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2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D5D7E89-9749-109B-DA2C-D7524C0BF7BC}"/>
              </a:ext>
            </a:extLst>
          </p:cNvPr>
          <p:cNvCxnSpPr>
            <a:cxnSpLocks/>
            <a:stCxn id="16" idx="3"/>
          </p:cNvCxnSpPr>
          <p:nvPr/>
        </p:nvCxnSpPr>
        <p:spPr>
          <a:xfrm flipH="1" flipV="1">
            <a:off x="8518415" y="4442486"/>
            <a:ext cx="2916577" cy="855780"/>
          </a:xfrm>
          <a:prstGeom prst="line">
            <a:avLst/>
          </a:prstGeom>
          <a:ln w="571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B7D8D3-D452-DD32-A093-F77D4A5111CD}"/>
              </a:ext>
            </a:extLst>
          </p:cNvPr>
          <p:cNvCxnSpPr>
            <a:cxnSpLocks/>
          </p:cNvCxnSpPr>
          <p:nvPr/>
        </p:nvCxnSpPr>
        <p:spPr>
          <a:xfrm>
            <a:off x="8518415" y="4430300"/>
            <a:ext cx="2888209" cy="0"/>
          </a:xfrm>
          <a:prstGeom prst="line">
            <a:avLst/>
          </a:prstGeom>
          <a:ln w="28575">
            <a:solidFill>
              <a:srgbClr val="C00000"/>
            </a:solidFill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C5C3321-8724-59C7-651C-2E4582932739}"/>
              </a:ext>
            </a:extLst>
          </p:cNvPr>
          <p:cNvCxnSpPr>
            <a:cxnSpLocks/>
          </p:cNvCxnSpPr>
          <p:nvPr/>
        </p:nvCxnSpPr>
        <p:spPr>
          <a:xfrm flipV="1">
            <a:off x="1266979" y="4034410"/>
            <a:ext cx="2921668" cy="1633369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086D2D2-FCA6-FE09-9F44-BD5CE87C0AED}"/>
              </a:ext>
            </a:extLst>
          </p:cNvPr>
          <p:cNvSpPr/>
          <p:nvPr/>
        </p:nvSpPr>
        <p:spPr>
          <a:xfrm>
            <a:off x="1220560" y="893005"/>
            <a:ext cx="10214433" cy="732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93DF367-93A4-06A6-1A8A-97C8E10CC4B6}"/>
              </a:ext>
            </a:extLst>
          </p:cNvPr>
          <p:cNvCxnSpPr>
            <a:cxnSpLocks/>
          </p:cNvCxnSpPr>
          <p:nvPr/>
        </p:nvCxnSpPr>
        <p:spPr>
          <a:xfrm>
            <a:off x="2235074" y="5153814"/>
            <a:ext cx="5998234" cy="495829"/>
          </a:xfrm>
          <a:prstGeom prst="line">
            <a:avLst/>
          </a:prstGeom>
          <a:ln w="57150">
            <a:solidFill>
              <a:srgbClr val="00B050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B089C8-C964-354F-B60E-E6C339C460AD}"/>
              </a:ext>
            </a:extLst>
          </p:cNvPr>
          <p:cNvCxnSpPr>
            <a:cxnSpLocks/>
          </p:cNvCxnSpPr>
          <p:nvPr/>
        </p:nvCxnSpPr>
        <p:spPr>
          <a:xfrm>
            <a:off x="1212603" y="5602080"/>
            <a:ext cx="0" cy="54759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1E909C6-4730-CBB8-F2EE-D2AB1C6C6954}"/>
              </a:ext>
            </a:extLst>
          </p:cNvPr>
          <p:cNvCxnSpPr>
            <a:cxnSpLocks/>
          </p:cNvCxnSpPr>
          <p:nvPr/>
        </p:nvCxnSpPr>
        <p:spPr>
          <a:xfrm>
            <a:off x="6802388" y="5627812"/>
            <a:ext cx="0" cy="1884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03E94AA-2A0D-F577-B820-41DC71BCC097}"/>
              </a:ext>
            </a:extLst>
          </p:cNvPr>
          <p:cNvCxnSpPr>
            <a:cxnSpLocks/>
          </p:cNvCxnSpPr>
          <p:nvPr/>
        </p:nvCxnSpPr>
        <p:spPr>
          <a:xfrm flipV="1">
            <a:off x="6802387" y="893005"/>
            <a:ext cx="0" cy="482278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679A9BC-8F61-E39C-DE3C-29E9C56C77A7}"/>
              </a:ext>
            </a:extLst>
          </p:cNvPr>
          <p:cNvCxnSpPr>
            <a:cxnSpLocks/>
          </p:cNvCxnSpPr>
          <p:nvPr/>
        </p:nvCxnSpPr>
        <p:spPr>
          <a:xfrm>
            <a:off x="6143091" y="5614558"/>
            <a:ext cx="0" cy="1884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279042F-509B-E7C1-CCA7-E55956FE4977}"/>
              </a:ext>
            </a:extLst>
          </p:cNvPr>
          <p:cNvCxnSpPr>
            <a:cxnSpLocks/>
          </p:cNvCxnSpPr>
          <p:nvPr/>
        </p:nvCxnSpPr>
        <p:spPr>
          <a:xfrm flipV="1">
            <a:off x="6143091" y="893005"/>
            <a:ext cx="0" cy="482940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3A68E3-AA5B-DA23-2181-5DAD6569F72F}"/>
              </a:ext>
            </a:extLst>
          </p:cNvPr>
          <p:cNvCxnSpPr>
            <a:cxnSpLocks/>
          </p:cNvCxnSpPr>
          <p:nvPr/>
        </p:nvCxnSpPr>
        <p:spPr>
          <a:xfrm flipV="1">
            <a:off x="4228220" y="893005"/>
            <a:ext cx="0" cy="481576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B311DD-D509-D419-5382-0D6DD0C5DCD8}"/>
              </a:ext>
            </a:extLst>
          </p:cNvPr>
          <p:cNvCxnSpPr>
            <a:cxnSpLocks/>
          </p:cNvCxnSpPr>
          <p:nvPr/>
        </p:nvCxnSpPr>
        <p:spPr>
          <a:xfrm>
            <a:off x="4226132" y="5649643"/>
            <a:ext cx="0" cy="152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B4802E1-256B-94C4-6EB7-EF72C55AE092}"/>
              </a:ext>
            </a:extLst>
          </p:cNvPr>
          <p:cNvSpPr/>
          <p:nvPr/>
        </p:nvSpPr>
        <p:spPr>
          <a:xfrm>
            <a:off x="6166751" y="906452"/>
            <a:ext cx="618924" cy="47613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DFE67-1003-3320-5A08-FB8453C898A9}"/>
              </a:ext>
            </a:extLst>
          </p:cNvPr>
          <p:cNvSpPr txBox="1"/>
          <p:nvPr/>
        </p:nvSpPr>
        <p:spPr>
          <a:xfrm>
            <a:off x="427094" y="6006342"/>
            <a:ext cx="1202573" cy="30777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Inoculation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4CF98BD4-B18D-C5E5-691A-98154B39A777}"/>
              </a:ext>
            </a:extLst>
          </p:cNvPr>
          <p:cNvSpPr/>
          <p:nvPr/>
        </p:nvSpPr>
        <p:spPr>
          <a:xfrm rot="16200000">
            <a:off x="4804508" y="3373459"/>
            <a:ext cx="414988" cy="2584038"/>
          </a:xfrm>
          <a:prstGeom prst="triangle">
            <a:avLst>
              <a:gd name="adj" fmla="val 53141"/>
            </a:avLst>
          </a:prstGeom>
          <a:gradFill>
            <a:gsLst>
              <a:gs pos="100000">
                <a:srgbClr val="FF0000"/>
              </a:gs>
              <a:gs pos="0">
                <a:srgbClr val="FFC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8DC615-4394-1447-29EC-6DF379A0ABFC}"/>
              </a:ext>
            </a:extLst>
          </p:cNvPr>
          <p:cNvSpPr txBox="1"/>
          <p:nvPr/>
        </p:nvSpPr>
        <p:spPr>
          <a:xfrm>
            <a:off x="10363531" y="2505448"/>
            <a:ext cx="108074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Relapse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B2EEE2-1B8D-1DAF-C293-4CD6BA256876}"/>
              </a:ext>
            </a:extLst>
          </p:cNvPr>
          <p:cNvSpPr txBox="1"/>
          <p:nvPr/>
        </p:nvSpPr>
        <p:spPr>
          <a:xfrm>
            <a:off x="10649415" y="5113600"/>
            <a:ext cx="785577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Cure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CB2BE2-807A-7355-6DDA-5236A16A464A}"/>
              </a:ext>
            </a:extLst>
          </p:cNvPr>
          <p:cNvSpPr txBox="1"/>
          <p:nvPr/>
        </p:nvSpPr>
        <p:spPr>
          <a:xfrm rot="21273122">
            <a:off x="4281414" y="4258348"/>
            <a:ext cx="2111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LMRoman10" panose="02000503020200000003" pitchFamily="2" charset="77"/>
                <a:cs typeface="LMRoman10" panose="02000503020200000003" pitchFamily="2" charset="77"/>
              </a:rPr>
              <a:t>Worsening symptoms</a:t>
            </a:r>
          </a:p>
        </p:txBody>
      </p:sp>
      <p:sp>
        <p:nvSpPr>
          <p:cNvPr id="29" name="Triangle 28">
            <a:extLst>
              <a:ext uri="{FF2B5EF4-FFF2-40B4-BE49-F238E27FC236}">
                <a16:creationId xmlns:a16="http://schemas.microsoft.com/office/drawing/2014/main" id="{1A25A863-B52D-FE3D-8EC2-6083FE16E6E0}"/>
              </a:ext>
            </a:extLst>
          </p:cNvPr>
          <p:cNvSpPr/>
          <p:nvPr/>
        </p:nvSpPr>
        <p:spPr>
          <a:xfrm rot="5400000">
            <a:off x="6760077" y="3996297"/>
            <a:ext cx="414988" cy="1338363"/>
          </a:xfrm>
          <a:prstGeom prst="triangle">
            <a:avLst>
              <a:gd name="adj" fmla="val 58155"/>
            </a:avLst>
          </a:prstGeom>
          <a:gradFill>
            <a:gsLst>
              <a:gs pos="100000">
                <a:srgbClr val="FF0000"/>
              </a:gs>
              <a:gs pos="0">
                <a:srgbClr val="FFC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9B9BC1-A80E-57F6-382E-10CBBCAC1123}"/>
              </a:ext>
            </a:extLst>
          </p:cNvPr>
          <p:cNvSpPr txBox="1"/>
          <p:nvPr/>
        </p:nvSpPr>
        <p:spPr>
          <a:xfrm>
            <a:off x="126376" y="3857711"/>
            <a:ext cx="1111203" cy="5847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LMRoman10" panose="02000503020200000003" pitchFamily="2" charset="77"/>
                <a:cs typeface="LMRoman10" panose="02000503020200000003" pitchFamily="2" charset="77"/>
              </a:rPr>
              <a:t>Parasite </a:t>
            </a:r>
          </a:p>
          <a:p>
            <a:pPr algn="ctr"/>
            <a:r>
              <a:rPr lang="en-US" sz="1600" b="1" dirty="0">
                <a:latin typeface="LMRoman10" panose="02000503020200000003" pitchFamily="2" charset="77"/>
                <a:cs typeface="LMRoman10" panose="02000503020200000003" pitchFamily="2" charset="77"/>
              </a:rPr>
              <a:t>load</a:t>
            </a:r>
          </a:p>
        </p:txBody>
      </p:sp>
      <p:sp>
        <p:nvSpPr>
          <p:cNvPr id="31" name="L-shape 30">
            <a:extLst>
              <a:ext uri="{FF2B5EF4-FFF2-40B4-BE49-F238E27FC236}">
                <a16:creationId xmlns:a16="http://schemas.microsoft.com/office/drawing/2014/main" id="{FA7B1FD4-1A2B-A9BA-184E-38BB287C1ED7}"/>
              </a:ext>
            </a:extLst>
          </p:cNvPr>
          <p:cNvSpPr/>
          <p:nvPr/>
        </p:nvSpPr>
        <p:spPr>
          <a:xfrm>
            <a:off x="1213573" y="893005"/>
            <a:ext cx="10230703" cy="4832495"/>
          </a:xfrm>
          <a:prstGeom prst="corner">
            <a:avLst>
              <a:gd name="adj1" fmla="val 1905"/>
              <a:gd name="adj2" fmla="val 23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F929B8D-E5F1-573B-D1D0-0F8CC84CBB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55" t="2848" r="2403" b="4433"/>
          <a:stretch>
            <a:fillRect/>
          </a:stretch>
        </p:blipFill>
        <p:spPr>
          <a:xfrm flipH="1">
            <a:off x="79615" y="4694093"/>
            <a:ext cx="1067167" cy="920466"/>
          </a:xfrm>
          <a:prstGeom prst="rect">
            <a:avLst/>
          </a:prstGeom>
          <a:effectLst/>
          <a:scene3d>
            <a:camera prst="obliqueTopLeft"/>
            <a:lightRig rig="threePt" dir="t"/>
          </a:scene3d>
        </p:spPr>
      </p:pic>
      <p:sp>
        <p:nvSpPr>
          <p:cNvPr id="33" name="Up Arrow 32">
            <a:extLst>
              <a:ext uri="{FF2B5EF4-FFF2-40B4-BE49-F238E27FC236}">
                <a16:creationId xmlns:a16="http://schemas.microsoft.com/office/drawing/2014/main" id="{424F5FD7-8C82-16D5-E8B0-4CD296195DB3}"/>
              </a:ext>
            </a:extLst>
          </p:cNvPr>
          <p:cNvSpPr/>
          <p:nvPr/>
        </p:nvSpPr>
        <p:spPr>
          <a:xfrm>
            <a:off x="747724" y="3327354"/>
            <a:ext cx="165994" cy="514192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sp>
        <p:nvSpPr>
          <p:cNvPr id="34" name="Up Arrow 33">
            <a:extLst>
              <a:ext uri="{FF2B5EF4-FFF2-40B4-BE49-F238E27FC236}">
                <a16:creationId xmlns:a16="http://schemas.microsoft.com/office/drawing/2014/main" id="{FA2C20FB-B6D8-6980-E6F0-4B7D213229D5}"/>
              </a:ext>
            </a:extLst>
          </p:cNvPr>
          <p:cNvSpPr/>
          <p:nvPr/>
        </p:nvSpPr>
        <p:spPr>
          <a:xfrm rot="5400000">
            <a:off x="11104935" y="5724016"/>
            <a:ext cx="165994" cy="514192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C4A9F4-2FDD-E00B-08B5-B415DB67DCE1}"/>
              </a:ext>
            </a:extLst>
          </p:cNvPr>
          <p:cNvSpPr txBox="1"/>
          <p:nvPr/>
        </p:nvSpPr>
        <p:spPr>
          <a:xfrm>
            <a:off x="10173609" y="5814836"/>
            <a:ext cx="718466" cy="33855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LMRoman10" panose="02000503020200000003" pitchFamily="2" charset="77"/>
                <a:cs typeface="LMRoman10" panose="02000503020200000003" pitchFamily="2" charset="77"/>
              </a:rPr>
              <a:t>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472480-0575-723E-2CBE-74C9739276F4}"/>
              </a:ext>
            </a:extLst>
          </p:cNvPr>
          <p:cNvSpPr txBox="1"/>
          <p:nvPr/>
        </p:nvSpPr>
        <p:spPr>
          <a:xfrm>
            <a:off x="2119794" y="5900397"/>
            <a:ext cx="1377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MRoman10" panose="02000503020200000003" pitchFamily="2" charset="77"/>
                <a:cs typeface="LMRoman10" panose="02000503020200000003" pitchFamily="2" charset="77"/>
              </a:rPr>
              <a:t>Incubation period</a:t>
            </a:r>
          </a:p>
          <a:p>
            <a:r>
              <a:rPr lang="en-US" sz="1200" dirty="0">
                <a:latin typeface="LMRoman10" panose="02000503020200000003" pitchFamily="2" charset="77"/>
                <a:cs typeface="LMRoman10" panose="02000503020200000003" pitchFamily="2" charset="77"/>
              </a:rPr>
              <a:t>~ weeks-months</a:t>
            </a:r>
          </a:p>
        </p:txBody>
      </p:sp>
      <p:sp>
        <p:nvSpPr>
          <p:cNvPr id="45" name="Up-down Arrow 44">
            <a:extLst>
              <a:ext uri="{FF2B5EF4-FFF2-40B4-BE49-F238E27FC236}">
                <a16:creationId xmlns:a16="http://schemas.microsoft.com/office/drawing/2014/main" id="{55C18247-89D6-38B9-D656-77AE3B71D500}"/>
              </a:ext>
            </a:extLst>
          </p:cNvPr>
          <p:cNvSpPr/>
          <p:nvPr/>
        </p:nvSpPr>
        <p:spPr>
          <a:xfrm rot="5400000">
            <a:off x="5125053" y="4968190"/>
            <a:ext cx="124361" cy="1795795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C9BC32-215C-7649-670D-D04499F6F303}"/>
              </a:ext>
            </a:extLst>
          </p:cNvPr>
          <p:cNvSpPr txBox="1"/>
          <p:nvPr/>
        </p:nvSpPr>
        <p:spPr>
          <a:xfrm>
            <a:off x="4224481" y="5927347"/>
            <a:ext cx="18850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LMRoman10" panose="02000503020200000003" pitchFamily="2" charset="77"/>
                <a:cs typeface="LMRoman10" panose="02000503020200000003" pitchFamily="2" charset="77"/>
              </a:rPr>
              <a:t>Fever/symptom duration</a:t>
            </a:r>
          </a:p>
          <a:p>
            <a:pPr algn="ctr"/>
            <a:r>
              <a:rPr lang="en-US" sz="1200" dirty="0">
                <a:latin typeface="LMRoman10" panose="02000503020200000003" pitchFamily="2" charset="77"/>
                <a:cs typeface="LMRoman10" panose="02000503020200000003" pitchFamily="2" charset="77"/>
              </a:rPr>
              <a:t>~ 10-200 days</a:t>
            </a:r>
          </a:p>
        </p:txBody>
      </p:sp>
      <p:sp>
        <p:nvSpPr>
          <p:cNvPr id="48" name="Up-down Arrow 47">
            <a:extLst>
              <a:ext uri="{FF2B5EF4-FFF2-40B4-BE49-F238E27FC236}">
                <a16:creationId xmlns:a16="http://schemas.microsoft.com/office/drawing/2014/main" id="{6BC57978-8501-D2AB-6BC6-31B428079290}"/>
              </a:ext>
            </a:extLst>
          </p:cNvPr>
          <p:cNvSpPr/>
          <p:nvPr/>
        </p:nvSpPr>
        <p:spPr>
          <a:xfrm rot="5400000">
            <a:off x="2672103" y="4470107"/>
            <a:ext cx="124361" cy="2791963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sp>
        <p:nvSpPr>
          <p:cNvPr id="49" name="Up-down Arrow 48">
            <a:extLst>
              <a:ext uri="{FF2B5EF4-FFF2-40B4-BE49-F238E27FC236}">
                <a16:creationId xmlns:a16="http://schemas.microsoft.com/office/drawing/2014/main" id="{E0E96A23-2DF5-5325-2622-2036B0F67C16}"/>
              </a:ext>
            </a:extLst>
          </p:cNvPr>
          <p:cNvSpPr/>
          <p:nvPr/>
        </p:nvSpPr>
        <p:spPr>
          <a:xfrm rot="5400000">
            <a:off x="6411178" y="5574900"/>
            <a:ext cx="123440" cy="581455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81EBA5-7969-8145-9BB9-EC3921EB3946}"/>
              </a:ext>
            </a:extLst>
          </p:cNvPr>
          <p:cNvSpPr txBox="1"/>
          <p:nvPr/>
        </p:nvSpPr>
        <p:spPr>
          <a:xfrm>
            <a:off x="5989325" y="5942039"/>
            <a:ext cx="981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LMRoman10" panose="02000503020200000003" pitchFamily="2" charset="77"/>
                <a:cs typeface="LMRoman10" panose="02000503020200000003" pitchFamily="2" charset="77"/>
              </a:rPr>
              <a:t>Rx</a:t>
            </a:r>
          </a:p>
          <a:p>
            <a:pPr algn="ctr"/>
            <a:r>
              <a:rPr lang="en-US" sz="1200" dirty="0">
                <a:latin typeface="LMRoman10" panose="02000503020200000003" pitchFamily="2" charset="77"/>
                <a:cs typeface="LMRoman10" panose="02000503020200000003" pitchFamily="2" charset="77"/>
              </a:rPr>
              <a:t>1-30 days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991913-F23B-926E-5CC2-453400C05F74}"/>
              </a:ext>
            </a:extLst>
          </p:cNvPr>
          <p:cNvSpPr txBox="1"/>
          <p:nvPr/>
        </p:nvSpPr>
        <p:spPr>
          <a:xfrm rot="286261">
            <a:off x="1737425" y="5242412"/>
            <a:ext cx="298618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LMRoman10" panose="02000503020200000003" pitchFamily="2" charset="77"/>
                <a:cs typeface="LMRoman10" panose="02000503020200000003" pitchFamily="2" charset="77"/>
              </a:rPr>
              <a:t>Early immune control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F689D6-2FFE-93E2-2AAB-D689867E59EC}"/>
              </a:ext>
            </a:extLst>
          </p:cNvPr>
          <p:cNvSpPr txBox="1"/>
          <p:nvPr/>
        </p:nvSpPr>
        <p:spPr>
          <a:xfrm rot="19839727">
            <a:off x="2255226" y="4243227"/>
            <a:ext cx="192452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LMRoman10" panose="02000503020200000003" pitchFamily="2" charset="77"/>
                <a:cs typeface="LMRoman10" panose="02000503020200000003" pitchFamily="2" charset="77"/>
              </a:rPr>
              <a:t>Immune escape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F034299-B45C-AF76-45CC-62D8E65B67E4}"/>
              </a:ext>
            </a:extLst>
          </p:cNvPr>
          <p:cNvCxnSpPr>
            <a:cxnSpLocks/>
          </p:cNvCxnSpPr>
          <p:nvPr/>
        </p:nvCxnSpPr>
        <p:spPr>
          <a:xfrm flipV="1">
            <a:off x="4155399" y="2462385"/>
            <a:ext cx="1980622" cy="1597953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E9D53AE-F605-1B64-E372-1330413C426C}"/>
              </a:ext>
            </a:extLst>
          </p:cNvPr>
          <p:cNvCxnSpPr>
            <a:cxnSpLocks/>
          </p:cNvCxnSpPr>
          <p:nvPr/>
        </p:nvCxnSpPr>
        <p:spPr>
          <a:xfrm flipV="1">
            <a:off x="4719835" y="2760795"/>
            <a:ext cx="340610" cy="791769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F949A54-CD36-26EE-3595-D0CC6B166B3F}"/>
              </a:ext>
            </a:extLst>
          </p:cNvPr>
          <p:cNvSpPr txBox="1"/>
          <p:nvPr/>
        </p:nvSpPr>
        <p:spPr>
          <a:xfrm>
            <a:off x="4722296" y="2438326"/>
            <a:ext cx="756696" cy="307777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Death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2719561-0DC1-5E1C-78EA-08BC6760F148}"/>
              </a:ext>
            </a:extLst>
          </p:cNvPr>
          <p:cNvCxnSpPr>
            <a:cxnSpLocks/>
          </p:cNvCxnSpPr>
          <p:nvPr/>
        </p:nvCxnSpPr>
        <p:spPr>
          <a:xfrm flipH="1" flipV="1">
            <a:off x="6116218" y="2438842"/>
            <a:ext cx="2411842" cy="200364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18C47B05-872D-4721-0CDF-28ED2DF4E8EE}"/>
              </a:ext>
            </a:extLst>
          </p:cNvPr>
          <p:cNvSpPr txBox="1"/>
          <p:nvPr/>
        </p:nvSpPr>
        <p:spPr>
          <a:xfrm rot="2323733">
            <a:off x="6586597" y="3802939"/>
            <a:ext cx="221086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LMRoman10" panose="02000503020200000003" pitchFamily="2" charset="77"/>
                <a:cs typeface="LMRoman10" panose="02000503020200000003" pitchFamily="2" charset="77"/>
              </a:rPr>
              <a:t>Initial treatment response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2448CDD-58C6-45AB-F64F-2AA5921AE9C7}"/>
              </a:ext>
            </a:extLst>
          </p:cNvPr>
          <p:cNvCxnSpPr>
            <a:cxnSpLocks/>
          </p:cNvCxnSpPr>
          <p:nvPr/>
        </p:nvCxnSpPr>
        <p:spPr>
          <a:xfrm flipH="1">
            <a:off x="8528060" y="2983555"/>
            <a:ext cx="2866590" cy="1458931"/>
          </a:xfrm>
          <a:prstGeom prst="line">
            <a:avLst/>
          </a:prstGeom>
          <a:ln w="571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EC4904D-0427-E8D4-A695-E8D4CAB35197}"/>
              </a:ext>
            </a:extLst>
          </p:cNvPr>
          <p:cNvSpPr txBox="1"/>
          <p:nvPr/>
        </p:nvSpPr>
        <p:spPr>
          <a:xfrm>
            <a:off x="1377309" y="1001588"/>
            <a:ext cx="2778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LMRoman10" panose="02000503020200000003" pitchFamily="2" charset="77"/>
                <a:cs typeface="LMRoman10" panose="02000503020200000003" pitchFamily="2" charset="77"/>
              </a:rPr>
              <a:t>ASYMPTOMATIC </a:t>
            </a:r>
          </a:p>
          <a:p>
            <a:pPr algn="ctr"/>
            <a:r>
              <a:rPr lang="en-US" sz="1400" b="1" dirty="0">
                <a:latin typeface="LMRoman10" panose="02000503020200000003" pitchFamily="2" charset="77"/>
                <a:cs typeface="LMRoman10" panose="02000503020200000003" pitchFamily="2" charset="77"/>
              </a:rPr>
              <a:t>STAGE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C7B88FD-D5D1-4036-1FC8-8C952F52D008}"/>
              </a:ext>
            </a:extLst>
          </p:cNvPr>
          <p:cNvSpPr txBox="1"/>
          <p:nvPr/>
        </p:nvSpPr>
        <p:spPr>
          <a:xfrm>
            <a:off x="4130265" y="991675"/>
            <a:ext cx="2109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LMRoman10" panose="02000503020200000003" pitchFamily="2" charset="77"/>
                <a:cs typeface="LMRoman10" panose="02000503020200000003" pitchFamily="2" charset="77"/>
              </a:rPr>
              <a:t>SYMPTOMATIC </a:t>
            </a:r>
          </a:p>
          <a:p>
            <a:pPr algn="ctr"/>
            <a:r>
              <a:rPr lang="en-US" sz="1400" b="1" dirty="0">
                <a:latin typeface="LMRoman10" panose="02000503020200000003" pitchFamily="2" charset="77"/>
                <a:cs typeface="LMRoman10" panose="02000503020200000003" pitchFamily="2" charset="77"/>
              </a:rPr>
              <a:t>STAGE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509DB51-B4BE-C15C-85DF-76BEF61FE750}"/>
              </a:ext>
            </a:extLst>
          </p:cNvPr>
          <p:cNvSpPr txBox="1"/>
          <p:nvPr/>
        </p:nvSpPr>
        <p:spPr>
          <a:xfrm>
            <a:off x="5543380" y="994936"/>
            <a:ext cx="1857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LMRoman10" panose="02000503020200000003" pitchFamily="2" charset="77"/>
                <a:cs typeface="LMRoman10" panose="02000503020200000003" pitchFamily="2" charset="77"/>
              </a:rPr>
              <a:t>Rx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294A0CA-67E0-D04F-CC91-72A9713374EF}"/>
              </a:ext>
            </a:extLst>
          </p:cNvPr>
          <p:cNvSpPr txBox="1"/>
          <p:nvPr/>
        </p:nvSpPr>
        <p:spPr>
          <a:xfrm>
            <a:off x="7252733" y="991675"/>
            <a:ext cx="3693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LMRoman10" panose="02000503020200000003" pitchFamily="2" charset="77"/>
                <a:cs typeface="LMRoman10" panose="02000503020200000003" pitchFamily="2" charset="77"/>
              </a:rPr>
              <a:t>POST-TREATMENT </a:t>
            </a:r>
          </a:p>
          <a:p>
            <a:pPr algn="ctr"/>
            <a:r>
              <a:rPr lang="en-US" sz="1400" b="1" dirty="0">
                <a:latin typeface="LMRoman10" panose="02000503020200000003" pitchFamily="2" charset="77"/>
                <a:cs typeface="LMRoman10" panose="02000503020200000003" pitchFamily="2" charset="77"/>
              </a:rPr>
              <a:t>STAGE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3D98EED-7803-ACD7-4CE1-CB63A6FB0497}"/>
              </a:ext>
            </a:extLst>
          </p:cNvPr>
          <p:cNvCxnSpPr>
            <a:cxnSpLocks/>
          </p:cNvCxnSpPr>
          <p:nvPr/>
        </p:nvCxnSpPr>
        <p:spPr>
          <a:xfrm flipV="1">
            <a:off x="6147310" y="2010549"/>
            <a:ext cx="254178" cy="478388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9A724F54-8797-6243-C55F-D698A1ADF07E}"/>
              </a:ext>
            </a:extLst>
          </p:cNvPr>
          <p:cNvSpPr txBox="1"/>
          <p:nvPr/>
        </p:nvSpPr>
        <p:spPr>
          <a:xfrm>
            <a:off x="6364455" y="1785276"/>
            <a:ext cx="756696" cy="307777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Death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453917A-DCE3-940E-889B-6E2369DC0506}"/>
              </a:ext>
            </a:extLst>
          </p:cNvPr>
          <p:cNvCxnSpPr>
            <a:cxnSpLocks/>
          </p:cNvCxnSpPr>
          <p:nvPr/>
        </p:nvCxnSpPr>
        <p:spPr>
          <a:xfrm>
            <a:off x="6143091" y="2459594"/>
            <a:ext cx="1301879" cy="53130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3BDF884-8C8C-953C-73DF-9C1A8348943E}"/>
              </a:ext>
            </a:extLst>
          </p:cNvPr>
          <p:cNvSpPr txBox="1"/>
          <p:nvPr/>
        </p:nvSpPr>
        <p:spPr>
          <a:xfrm>
            <a:off x="7444970" y="2959490"/>
            <a:ext cx="2263803" cy="307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Poor clinical response</a:t>
            </a:r>
          </a:p>
        </p:txBody>
      </p:sp>
      <p:sp>
        <p:nvSpPr>
          <p:cNvPr id="142" name="Triangle 141">
            <a:extLst>
              <a:ext uri="{FF2B5EF4-FFF2-40B4-BE49-F238E27FC236}">
                <a16:creationId xmlns:a16="http://schemas.microsoft.com/office/drawing/2014/main" id="{A2880C98-2C17-A228-7659-7B97225E61F0}"/>
              </a:ext>
            </a:extLst>
          </p:cNvPr>
          <p:cNvSpPr/>
          <p:nvPr/>
        </p:nvSpPr>
        <p:spPr>
          <a:xfrm rot="16200000">
            <a:off x="10684307" y="1640037"/>
            <a:ext cx="307777" cy="1205494"/>
          </a:xfrm>
          <a:prstGeom prst="triangle">
            <a:avLst>
              <a:gd name="adj" fmla="val 53141"/>
            </a:avLst>
          </a:prstGeom>
          <a:gradFill>
            <a:gsLst>
              <a:gs pos="100000">
                <a:srgbClr val="FF0000"/>
              </a:gs>
              <a:gs pos="0">
                <a:srgbClr val="FFC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2F3EB9-B2C6-84EB-187C-6F93E84A5496}"/>
              </a:ext>
            </a:extLst>
          </p:cNvPr>
          <p:cNvSpPr txBox="1"/>
          <p:nvPr/>
        </p:nvSpPr>
        <p:spPr>
          <a:xfrm>
            <a:off x="9576537" y="4150116"/>
            <a:ext cx="1846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solidFill>
                  <a:srgbClr val="C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Critical parasite load</a:t>
            </a:r>
          </a:p>
        </p:txBody>
      </p:sp>
    </p:spTree>
    <p:extLst>
      <p:ext uri="{BB962C8B-B14F-4D97-AF65-F5344CB8AC3E}">
        <p14:creationId xmlns:p14="http://schemas.microsoft.com/office/powerpoint/2010/main" val="167354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10" grpId="0" animBg="1"/>
      <p:bldP spid="15" grpId="0" animBg="1"/>
      <p:bldP spid="16" grpId="0" animBg="1"/>
      <p:bldP spid="23" grpId="0"/>
      <p:bldP spid="29" grpId="0" animBg="1"/>
      <p:bldP spid="30" grpId="0" animBg="1"/>
      <p:bldP spid="2" grpId="0" animBg="1"/>
      <p:bldP spid="19" grpId="0"/>
      <p:bldP spid="59" grpId="0" animBg="1"/>
      <p:bldP spid="68" grpId="0"/>
      <p:bldP spid="77" grpId="0" animBg="1"/>
      <p:bldP spid="85" grpId="0" animBg="1"/>
      <p:bldP spid="119" grpId="0" animBg="1"/>
      <p:bldP spid="124" grpId="0" animBg="1"/>
      <p:bldP spid="14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</TotalTime>
  <Words>46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LMRoman10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Wilson</dc:creator>
  <cp:lastModifiedBy>James Wilson</cp:lastModifiedBy>
  <cp:revision>74</cp:revision>
  <dcterms:created xsi:type="dcterms:W3CDTF">2026-01-22T17:32:03Z</dcterms:created>
  <dcterms:modified xsi:type="dcterms:W3CDTF">2026-02-17T17:58:24Z</dcterms:modified>
</cp:coreProperties>
</file>