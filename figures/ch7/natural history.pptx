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93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vertBarState="minimized">
    <p:restoredLeft sz="7873"/>
    <p:restoredTop sz="94658"/>
  </p:normalViewPr>
  <p:slideViewPr>
    <p:cSldViewPr snapToGrid="0">
      <p:cViewPr varScale="1">
        <p:scale>
          <a:sx n="115" d="100"/>
          <a:sy n="115" d="100"/>
        </p:scale>
        <p:origin x="1656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0D46A60-255F-684C-A684-CC10752AAD30}" type="datetimeFigureOut">
              <a:rPr lang="en-US" smtClean="0"/>
              <a:t>1/26/26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F121DC8-4B43-6B4D-ADAB-36FE37755F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839236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121DC8-4B43-6B4D-ADAB-36FE37755FB0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070929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9FF0F3-0B88-DC55-9BCF-2C6636F13B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5ED45D3-7015-E58C-CC50-166DB1CD59B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2FA9B2C-E3FD-D058-EBA7-E2E6EC9AD1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C17EAB-2A75-D149-9D07-4B5426996BDE}" type="datetimeFigureOut">
              <a:rPr lang="en-US" smtClean="0"/>
              <a:t>1/26/26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70495C0-E2B3-497E-F76A-C77435555F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BF1946-E17A-9FF3-43E6-6F24094157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5B57EB-9A90-E240-BDF9-A1B0D60E30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067965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60D25F-D15B-6A69-883D-FD6105AD0C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F4FC30-C80C-6BD3-6216-1A989A5883C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E64BF2E-93E4-B42C-00C3-E7ED8F359B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C17EAB-2A75-D149-9D07-4B5426996BDE}" type="datetimeFigureOut">
              <a:rPr lang="en-US" smtClean="0"/>
              <a:t>1/26/26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AF7A2F-7FFD-7FED-6B5E-F9B1C245D2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70B5D7-0DE8-7AD2-B10E-E6E4BB438C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5B57EB-9A90-E240-BDF9-A1B0D60E30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649647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B9B956-E5CC-75F8-6147-EFC1D714B0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053D06B-495E-ECC5-3CC5-9B8CB6F48FE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609086F-9297-5431-56DE-D150BE654D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C17EAB-2A75-D149-9D07-4B5426996BDE}" type="datetimeFigureOut">
              <a:rPr lang="en-US" smtClean="0"/>
              <a:t>1/26/26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4096C7-00DF-BF67-DB06-1C4B2A2CD6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2D96D7-D220-ADC9-451B-BD607ABC9F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5B57EB-9A90-E240-BDF9-A1B0D60E30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44086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8DD892-B6F3-F90A-B11D-46E10237A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BE885C-93DE-9D1F-FFE7-681AA1A4161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C7730CA-E789-4820-B137-31A817DE6D9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921E2C7-B515-4BEE-25B2-CAF4CB6A4C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C17EAB-2A75-D149-9D07-4B5426996BDE}" type="datetimeFigureOut">
              <a:rPr lang="en-US" smtClean="0"/>
              <a:t>1/26/26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DCEFC4F-6835-7C6C-C82C-C99DF7D9CF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A640156-70F7-16A5-6053-8BF8958039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5B57EB-9A90-E240-BDF9-A1B0D60E30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32939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AFE0FF-968D-8699-209B-121D5089F4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EC1A4A5-779D-BD8E-D358-35FE653C6AB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4035D77-CCA4-07F8-D20E-EF52A61ACC3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4A0F5C4-7472-4400-501E-10C17AD0637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89F10CD-8243-F2E9-182E-1934612E2C8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01C0149-BF6E-FBEF-1EC0-261F1C7D38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C17EAB-2A75-D149-9D07-4B5426996BDE}" type="datetimeFigureOut">
              <a:rPr lang="en-US" smtClean="0"/>
              <a:t>1/26/26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6C4F666-F98A-7E0A-E86E-D652734A72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36749DD-F764-2FA2-446C-F43ABB260D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5B57EB-9A90-E240-BDF9-A1B0D60E30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57365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FB830A-31F1-7D47-8169-3D4F7882F7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103D1E8-3283-DA91-F619-952ADE26FC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C17EAB-2A75-D149-9D07-4B5426996BDE}" type="datetimeFigureOut">
              <a:rPr lang="en-US" smtClean="0"/>
              <a:t>1/26/26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96C6485-C2FF-7252-6C9C-3899E6783A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FBE4C5E-C120-CF17-873F-2FE487F3F0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5B57EB-9A90-E240-BDF9-A1B0D60E30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46938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EEDA3A2-EA42-EFE2-9113-A0D97E2139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C17EAB-2A75-D149-9D07-4B5426996BDE}" type="datetimeFigureOut">
              <a:rPr lang="en-US" smtClean="0"/>
              <a:t>1/26/26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2B19510-CFB4-4578-F7C9-F2AFCA5A98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7A04333-0882-9CF3-2135-D3F7CF1A3C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5B57EB-9A90-E240-BDF9-A1B0D60E30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835864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226D35-7067-43B8-BD54-1BAD5A5920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6E8F17-B2C0-9260-05AB-9D44141E32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984CB14-EA1D-57AD-B84B-5DFDC80EE85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F79B2F3-DD75-F184-4595-6A0F77EE7E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C17EAB-2A75-D149-9D07-4B5426996BDE}" type="datetimeFigureOut">
              <a:rPr lang="en-US" smtClean="0"/>
              <a:t>1/26/26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4FC74F5-B4F1-A6E5-9D6E-331DF395B0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C357897-6DEC-5C8A-905E-43D7BE23A8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5B57EB-9A90-E240-BDF9-A1B0D60E30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145749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8F41A7-0895-4811-4CCB-BB92E00609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EBFCFFD-2D4F-BD32-5644-802C9B25BA3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5D025D9-6EC8-5783-5D36-372CB75C406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89638DC-654C-6A2B-92FC-FF28D12CB4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C17EAB-2A75-D149-9D07-4B5426996BDE}" type="datetimeFigureOut">
              <a:rPr lang="en-US" smtClean="0"/>
              <a:t>1/26/26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58F05F1-20A1-2A0A-48AF-5991198790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79C082C-AF09-49E3-038F-83CC266042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5B57EB-9A90-E240-BDF9-A1B0D60E30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84373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79145D-1DA4-D82A-98B5-D4694BDA8C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EB0E9FF-2E90-FFBA-32D7-1E53FAB70FF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7957B88-CC32-DBE2-7AF8-8F4B8234FD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C17EAB-2A75-D149-9D07-4B5426996BDE}" type="datetimeFigureOut">
              <a:rPr lang="en-US" smtClean="0"/>
              <a:t>1/26/26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B4FCDC8-5146-EEA9-7F4B-C67811FDB8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C138E-F618-2278-12D2-BF729EEEAE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5B57EB-9A90-E240-BDF9-A1B0D60E30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70059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439133E-0A60-C3DC-9CEF-EF6812D83DC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87013DC-1651-6893-A8B4-A67F65C45AB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AA6B11-46AB-E363-04D4-1CDB589EC0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C17EAB-2A75-D149-9D07-4B5426996BDE}" type="datetimeFigureOut">
              <a:rPr lang="en-US" smtClean="0"/>
              <a:t>1/26/26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C07E6F-723B-50FC-D002-859BBB0A36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A33E045-9D53-371C-3F13-6E97DA3270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5B57EB-9A90-E240-BDF9-A1B0D60E30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95323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B8DC50F-21E4-66F7-3775-BB163809D6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7CB9FA8-C33D-CABB-4A50-4CA279D5B7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23A409-B6B8-52BF-AA37-CE4289D9A15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9C17EAB-2A75-D149-9D07-4B5426996BDE}" type="datetimeFigureOut">
              <a:rPr lang="en-US" smtClean="0"/>
              <a:t>1/26/26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6805B7-5551-72BE-F095-9A13FE936DB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DD80ED-7586-F4C5-F989-654A45469D3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55B57EB-9A90-E240-BDF9-A1B0D60E30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51206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FC5C3321-8724-59C7-651C-2E4582932739}"/>
              </a:ext>
            </a:extLst>
          </p:cNvPr>
          <p:cNvCxnSpPr>
            <a:cxnSpLocks/>
          </p:cNvCxnSpPr>
          <p:nvPr/>
        </p:nvCxnSpPr>
        <p:spPr>
          <a:xfrm flipV="1">
            <a:off x="1266979" y="4034410"/>
            <a:ext cx="2921668" cy="1633369"/>
          </a:xfrm>
          <a:prstGeom prst="line">
            <a:avLst/>
          </a:prstGeom>
          <a:ln w="571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6" name="Rectangle 125">
            <a:extLst>
              <a:ext uri="{FF2B5EF4-FFF2-40B4-BE49-F238E27FC236}">
                <a16:creationId xmlns:a16="http://schemas.microsoft.com/office/drawing/2014/main" id="{C086D2D2-FCA6-FE09-9F44-BD5CE87C0AED}"/>
              </a:ext>
            </a:extLst>
          </p:cNvPr>
          <p:cNvSpPr/>
          <p:nvPr/>
        </p:nvSpPr>
        <p:spPr>
          <a:xfrm>
            <a:off x="1220560" y="893005"/>
            <a:ext cx="10214433" cy="732597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LMRoman10" panose="02000503020200000003" pitchFamily="2" charset="77"/>
              <a:cs typeface="LMRoman10" panose="02000503020200000003" pitchFamily="2" charset="77"/>
            </a:endParaRPr>
          </a:p>
        </p:txBody>
      </p: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493DF367-93A4-06A6-1A8A-97C8E10CC4B6}"/>
              </a:ext>
            </a:extLst>
          </p:cNvPr>
          <p:cNvCxnSpPr>
            <a:cxnSpLocks/>
          </p:cNvCxnSpPr>
          <p:nvPr/>
        </p:nvCxnSpPr>
        <p:spPr>
          <a:xfrm>
            <a:off x="2235074" y="5153814"/>
            <a:ext cx="5998234" cy="495829"/>
          </a:xfrm>
          <a:prstGeom prst="line">
            <a:avLst/>
          </a:prstGeom>
          <a:ln w="57150">
            <a:solidFill>
              <a:srgbClr val="00B050"/>
            </a:solidFill>
            <a:prstDash val="sysDot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8" name="Straight Connector 87">
            <a:extLst>
              <a:ext uri="{FF2B5EF4-FFF2-40B4-BE49-F238E27FC236}">
                <a16:creationId xmlns:a16="http://schemas.microsoft.com/office/drawing/2014/main" id="{FD5D7E89-9749-109B-DA2C-D7524C0BF7BC}"/>
              </a:ext>
            </a:extLst>
          </p:cNvPr>
          <p:cNvCxnSpPr>
            <a:cxnSpLocks/>
          </p:cNvCxnSpPr>
          <p:nvPr/>
        </p:nvCxnSpPr>
        <p:spPr>
          <a:xfrm flipH="1" flipV="1">
            <a:off x="8507314" y="5178400"/>
            <a:ext cx="2899310" cy="248071"/>
          </a:xfrm>
          <a:prstGeom prst="line">
            <a:avLst/>
          </a:prstGeom>
          <a:ln w="571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4BB089C8-C964-354F-B60E-E6C339C460AD}"/>
              </a:ext>
            </a:extLst>
          </p:cNvPr>
          <p:cNvCxnSpPr>
            <a:cxnSpLocks/>
          </p:cNvCxnSpPr>
          <p:nvPr/>
        </p:nvCxnSpPr>
        <p:spPr>
          <a:xfrm>
            <a:off x="1212603" y="5602080"/>
            <a:ext cx="0" cy="547590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11E909C6-4730-CBB8-F2EE-D2AB1C6C6954}"/>
              </a:ext>
            </a:extLst>
          </p:cNvPr>
          <p:cNvCxnSpPr>
            <a:cxnSpLocks/>
          </p:cNvCxnSpPr>
          <p:nvPr/>
        </p:nvCxnSpPr>
        <p:spPr>
          <a:xfrm>
            <a:off x="6802388" y="5627812"/>
            <a:ext cx="0" cy="18841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703E94AA-2A0D-F577-B820-41DC71BCC097}"/>
              </a:ext>
            </a:extLst>
          </p:cNvPr>
          <p:cNvCxnSpPr>
            <a:cxnSpLocks/>
          </p:cNvCxnSpPr>
          <p:nvPr/>
        </p:nvCxnSpPr>
        <p:spPr>
          <a:xfrm flipV="1">
            <a:off x="6802387" y="893005"/>
            <a:ext cx="0" cy="4822784"/>
          </a:xfrm>
          <a:prstGeom prst="line">
            <a:avLst/>
          </a:prstGeom>
          <a:ln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F679A9BC-8F61-E39C-DE3C-29E9C56C77A7}"/>
              </a:ext>
            </a:extLst>
          </p:cNvPr>
          <p:cNvCxnSpPr>
            <a:cxnSpLocks/>
          </p:cNvCxnSpPr>
          <p:nvPr/>
        </p:nvCxnSpPr>
        <p:spPr>
          <a:xfrm>
            <a:off x="6143091" y="5614558"/>
            <a:ext cx="0" cy="18841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4279042F-509B-E7C1-CCA7-E55956FE4977}"/>
              </a:ext>
            </a:extLst>
          </p:cNvPr>
          <p:cNvCxnSpPr>
            <a:cxnSpLocks/>
          </p:cNvCxnSpPr>
          <p:nvPr/>
        </p:nvCxnSpPr>
        <p:spPr>
          <a:xfrm flipV="1">
            <a:off x="6143091" y="893005"/>
            <a:ext cx="0" cy="4829408"/>
          </a:xfrm>
          <a:prstGeom prst="line">
            <a:avLst/>
          </a:prstGeom>
          <a:ln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AF3A68E3-AA5B-DA23-2181-5DAD6569F72F}"/>
              </a:ext>
            </a:extLst>
          </p:cNvPr>
          <p:cNvCxnSpPr>
            <a:cxnSpLocks/>
          </p:cNvCxnSpPr>
          <p:nvPr/>
        </p:nvCxnSpPr>
        <p:spPr>
          <a:xfrm flipV="1">
            <a:off x="4228220" y="893005"/>
            <a:ext cx="0" cy="4815760"/>
          </a:xfrm>
          <a:prstGeom prst="line">
            <a:avLst/>
          </a:prstGeom>
          <a:ln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A9B311DD-D509-D419-5382-0D6DD0C5DCD8}"/>
              </a:ext>
            </a:extLst>
          </p:cNvPr>
          <p:cNvCxnSpPr>
            <a:cxnSpLocks/>
          </p:cNvCxnSpPr>
          <p:nvPr/>
        </p:nvCxnSpPr>
        <p:spPr>
          <a:xfrm>
            <a:off x="4226132" y="5649643"/>
            <a:ext cx="0" cy="15291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0B4802E1-256B-94C4-6EB7-EF72C55AE092}"/>
              </a:ext>
            </a:extLst>
          </p:cNvPr>
          <p:cNvSpPr/>
          <p:nvPr/>
        </p:nvSpPr>
        <p:spPr>
          <a:xfrm>
            <a:off x="6166751" y="906452"/>
            <a:ext cx="618924" cy="4761327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LMRoman10" panose="02000503020200000003" pitchFamily="2" charset="77"/>
              <a:cs typeface="LMRoman10" panose="02000503020200000003" pitchFamily="2" charset="7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0ADFE67-1003-3320-5A08-FB8453C898A9}"/>
              </a:ext>
            </a:extLst>
          </p:cNvPr>
          <p:cNvSpPr txBox="1"/>
          <p:nvPr/>
        </p:nvSpPr>
        <p:spPr>
          <a:xfrm>
            <a:off x="427094" y="6006342"/>
            <a:ext cx="1202573" cy="307777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chemeClr val="bg1"/>
                </a:solidFill>
                <a:latin typeface="LMRoman10" panose="02000503020200000003" pitchFamily="2" charset="77"/>
                <a:cs typeface="LMRoman10" panose="02000503020200000003" pitchFamily="2" charset="77"/>
              </a:rPr>
              <a:t>Inoculation</a:t>
            </a:r>
          </a:p>
        </p:txBody>
      </p:sp>
      <p:sp>
        <p:nvSpPr>
          <p:cNvPr id="10" name="Triangle 9">
            <a:extLst>
              <a:ext uri="{FF2B5EF4-FFF2-40B4-BE49-F238E27FC236}">
                <a16:creationId xmlns:a16="http://schemas.microsoft.com/office/drawing/2014/main" id="{4CF98BD4-B18D-C5E5-691A-98154B39A777}"/>
              </a:ext>
            </a:extLst>
          </p:cNvPr>
          <p:cNvSpPr/>
          <p:nvPr/>
        </p:nvSpPr>
        <p:spPr>
          <a:xfrm rot="16200000">
            <a:off x="4804508" y="3373459"/>
            <a:ext cx="414988" cy="2584038"/>
          </a:xfrm>
          <a:prstGeom prst="triangle">
            <a:avLst>
              <a:gd name="adj" fmla="val 53141"/>
            </a:avLst>
          </a:prstGeom>
          <a:gradFill>
            <a:gsLst>
              <a:gs pos="100000">
                <a:srgbClr val="FF0000"/>
              </a:gs>
              <a:gs pos="0">
                <a:srgbClr val="FFC000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LMRoman10" panose="02000503020200000003" pitchFamily="2" charset="77"/>
              <a:cs typeface="LMRoman10" panose="02000503020200000003" pitchFamily="2" charset="77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98DC615-4394-1447-29EC-6DF379A0ABFC}"/>
              </a:ext>
            </a:extLst>
          </p:cNvPr>
          <p:cNvSpPr txBox="1"/>
          <p:nvPr/>
        </p:nvSpPr>
        <p:spPr>
          <a:xfrm>
            <a:off x="10371244" y="3188872"/>
            <a:ext cx="1080745" cy="36933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algn="r"/>
            <a:r>
              <a:rPr lang="en-US" b="1" dirty="0">
                <a:solidFill>
                  <a:srgbClr val="C00000"/>
                </a:solidFill>
                <a:latin typeface="LMRoman10" panose="02000503020200000003" pitchFamily="2" charset="77"/>
                <a:cs typeface="LMRoman10" panose="02000503020200000003" pitchFamily="2" charset="77"/>
              </a:rPr>
              <a:t>Relapse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79B2EEE2-1B8D-1DAF-C293-4CD6BA256876}"/>
                  </a:ext>
                </a:extLst>
              </p:cNvPr>
              <p:cNvSpPr txBox="1"/>
              <p:nvPr/>
            </p:nvSpPr>
            <p:spPr>
              <a:xfrm>
                <a:off x="9614023" y="4825572"/>
                <a:ext cx="1811426" cy="369332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en-US" b="1" dirty="0">
                    <a:solidFill>
                      <a:schemeClr val="accent6">
                        <a:lumMod val="75000"/>
                      </a:schemeClr>
                    </a:solidFill>
                    <a:latin typeface="LMRoman10" panose="02000503020200000003" pitchFamily="2" charset="77"/>
                    <a:cs typeface="LMRoman10" panose="02000503020200000003" pitchFamily="2" charset="77"/>
                  </a:rPr>
                  <a:t>Cure</a:t>
                </a:r>
                <a14:m>
                  <m:oMath xmlns:m="http://schemas.openxmlformats.org/officeDocument/2006/math">
                    <m:r>
                      <a:rPr lang="en-GB" b="1" i="0" smtClean="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LMRoman10" panose="02000503020200000003" pitchFamily="2" charset="77"/>
                      </a:rPr>
                      <m:t> </m:t>
                    </m:r>
                    <m:r>
                      <a:rPr lang="en-US" b="1" i="1" smtClean="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LMRoman10" panose="02000503020200000003" pitchFamily="2" charset="77"/>
                      </a:rPr>
                      <m:t>±</m:t>
                    </m:r>
                  </m:oMath>
                </a14:m>
                <a:r>
                  <a:rPr lang="en-US" b="1" dirty="0">
                    <a:solidFill>
                      <a:schemeClr val="accent6">
                        <a:lumMod val="75000"/>
                      </a:schemeClr>
                    </a:solidFill>
                    <a:latin typeface="LMRoman10" panose="02000503020200000003" pitchFamily="2" charset="77"/>
                    <a:cs typeface="LMRoman10" panose="02000503020200000003" pitchFamily="2" charset="77"/>
                  </a:rPr>
                  <a:t> PKDL</a:t>
                </a:r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79B2EEE2-1B8D-1DAF-C293-4CD6BA2568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14023" y="4825572"/>
                <a:ext cx="1811426" cy="369332"/>
              </a:xfrm>
              <a:prstGeom prst="rect">
                <a:avLst/>
              </a:prstGeom>
              <a:blipFill>
                <a:blip r:embed="rId3"/>
                <a:stretch>
                  <a:fillRect l="-2069" t="-6250" r="-2069" b="-15625"/>
                </a:stretch>
              </a:blipFill>
              <a:ln w="2857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" name="TextBox 22">
            <a:extLst>
              <a:ext uri="{FF2B5EF4-FFF2-40B4-BE49-F238E27FC236}">
                <a16:creationId xmlns:a16="http://schemas.microsoft.com/office/drawing/2014/main" id="{4CCB2BE2-807A-7355-6DDA-5236A16A464A}"/>
              </a:ext>
            </a:extLst>
          </p:cNvPr>
          <p:cNvSpPr txBox="1"/>
          <p:nvPr/>
        </p:nvSpPr>
        <p:spPr>
          <a:xfrm rot="21273122">
            <a:off x="4281414" y="4258348"/>
            <a:ext cx="211179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latin typeface="LMRoman10" panose="02000503020200000003" pitchFamily="2" charset="77"/>
                <a:cs typeface="LMRoman10" panose="02000503020200000003" pitchFamily="2" charset="77"/>
              </a:rPr>
              <a:t>Worsening symptoms</a:t>
            </a:r>
          </a:p>
        </p:txBody>
      </p:sp>
      <p:sp>
        <p:nvSpPr>
          <p:cNvPr id="29" name="Triangle 28">
            <a:extLst>
              <a:ext uri="{FF2B5EF4-FFF2-40B4-BE49-F238E27FC236}">
                <a16:creationId xmlns:a16="http://schemas.microsoft.com/office/drawing/2014/main" id="{1A25A863-B52D-FE3D-8EC2-6083FE16E6E0}"/>
              </a:ext>
            </a:extLst>
          </p:cNvPr>
          <p:cNvSpPr/>
          <p:nvPr/>
        </p:nvSpPr>
        <p:spPr>
          <a:xfrm rot="5400000">
            <a:off x="6760077" y="3996297"/>
            <a:ext cx="414988" cy="1338363"/>
          </a:xfrm>
          <a:prstGeom prst="triangle">
            <a:avLst>
              <a:gd name="adj" fmla="val 58155"/>
            </a:avLst>
          </a:prstGeom>
          <a:gradFill>
            <a:gsLst>
              <a:gs pos="100000">
                <a:srgbClr val="FF0000"/>
              </a:gs>
              <a:gs pos="0">
                <a:srgbClr val="FFC000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LMRoman10" panose="02000503020200000003" pitchFamily="2" charset="77"/>
              <a:cs typeface="LMRoman10" panose="02000503020200000003" pitchFamily="2" charset="77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89B9BC1-A80E-57F6-382E-10CBBCAC1123}"/>
              </a:ext>
            </a:extLst>
          </p:cNvPr>
          <p:cNvSpPr txBox="1"/>
          <p:nvPr/>
        </p:nvSpPr>
        <p:spPr>
          <a:xfrm>
            <a:off x="126376" y="3857711"/>
            <a:ext cx="1111203" cy="584775"/>
          </a:xfrm>
          <a:prstGeom prst="rect">
            <a:avLst/>
          </a:prstGeom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pPr algn="ctr"/>
            <a:r>
              <a:rPr lang="en-US" sz="1600" b="1" dirty="0">
                <a:latin typeface="LMRoman10" panose="02000503020200000003" pitchFamily="2" charset="77"/>
                <a:cs typeface="LMRoman10" panose="02000503020200000003" pitchFamily="2" charset="77"/>
              </a:rPr>
              <a:t>Parasite </a:t>
            </a:r>
          </a:p>
          <a:p>
            <a:pPr algn="ctr"/>
            <a:r>
              <a:rPr lang="en-US" sz="1600" b="1" dirty="0">
                <a:latin typeface="LMRoman10" panose="02000503020200000003" pitchFamily="2" charset="77"/>
                <a:cs typeface="LMRoman10" panose="02000503020200000003" pitchFamily="2" charset="77"/>
              </a:rPr>
              <a:t>load</a:t>
            </a:r>
          </a:p>
        </p:txBody>
      </p:sp>
      <p:sp>
        <p:nvSpPr>
          <p:cNvPr id="31" name="L-shape 30">
            <a:extLst>
              <a:ext uri="{FF2B5EF4-FFF2-40B4-BE49-F238E27FC236}">
                <a16:creationId xmlns:a16="http://schemas.microsoft.com/office/drawing/2014/main" id="{FA7B1FD4-1A2B-A9BA-184E-38BB287C1ED7}"/>
              </a:ext>
            </a:extLst>
          </p:cNvPr>
          <p:cNvSpPr/>
          <p:nvPr/>
        </p:nvSpPr>
        <p:spPr>
          <a:xfrm>
            <a:off x="1213573" y="893005"/>
            <a:ext cx="10230703" cy="4832495"/>
          </a:xfrm>
          <a:prstGeom prst="corner">
            <a:avLst>
              <a:gd name="adj1" fmla="val 1905"/>
              <a:gd name="adj2" fmla="val 2328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LMRoman10" panose="02000503020200000003" pitchFamily="2" charset="77"/>
              <a:cs typeface="LMRoman10" panose="02000503020200000003" pitchFamily="2" charset="77"/>
            </a:endParaRPr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2F929B8D-E5F1-573B-D1D0-0F8CC84CBBC2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7842" t="1" r="-351" b="899"/>
          <a:stretch>
            <a:fillRect/>
          </a:stretch>
        </p:blipFill>
        <p:spPr>
          <a:xfrm flipH="1">
            <a:off x="46549" y="4665832"/>
            <a:ext cx="1111203" cy="983811"/>
          </a:xfrm>
          <a:prstGeom prst="rect">
            <a:avLst/>
          </a:prstGeom>
          <a:effectLst/>
          <a:scene3d>
            <a:camera prst="obliqueTopLeft"/>
            <a:lightRig rig="threePt" dir="t"/>
          </a:scene3d>
        </p:spPr>
      </p:pic>
      <p:sp>
        <p:nvSpPr>
          <p:cNvPr id="33" name="Up Arrow 32">
            <a:extLst>
              <a:ext uri="{FF2B5EF4-FFF2-40B4-BE49-F238E27FC236}">
                <a16:creationId xmlns:a16="http://schemas.microsoft.com/office/drawing/2014/main" id="{424F5FD7-8C82-16D5-E8B0-4CD296195DB3}"/>
              </a:ext>
            </a:extLst>
          </p:cNvPr>
          <p:cNvSpPr/>
          <p:nvPr/>
        </p:nvSpPr>
        <p:spPr>
          <a:xfrm>
            <a:off x="747724" y="3327354"/>
            <a:ext cx="165994" cy="514192"/>
          </a:xfrm>
          <a:prstGeom prst="upArrow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LMRoman10" panose="02000503020200000003" pitchFamily="2" charset="77"/>
              <a:cs typeface="LMRoman10" panose="02000503020200000003" pitchFamily="2" charset="77"/>
            </a:endParaRPr>
          </a:p>
        </p:txBody>
      </p:sp>
      <p:sp>
        <p:nvSpPr>
          <p:cNvPr id="34" name="Up Arrow 33">
            <a:extLst>
              <a:ext uri="{FF2B5EF4-FFF2-40B4-BE49-F238E27FC236}">
                <a16:creationId xmlns:a16="http://schemas.microsoft.com/office/drawing/2014/main" id="{FA2C20FB-B6D8-6980-E6F0-4B7D213229D5}"/>
              </a:ext>
            </a:extLst>
          </p:cNvPr>
          <p:cNvSpPr/>
          <p:nvPr/>
        </p:nvSpPr>
        <p:spPr>
          <a:xfrm rot="5400000">
            <a:off x="9273930" y="5790896"/>
            <a:ext cx="165994" cy="514192"/>
          </a:xfrm>
          <a:prstGeom prst="upArrow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LMRoman10" panose="02000503020200000003" pitchFamily="2" charset="77"/>
              <a:cs typeface="LMRoman10" panose="02000503020200000003" pitchFamily="2" charset="7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2C4A9F4-2FDD-E00B-08B5-B415DB67DCE1}"/>
              </a:ext>
            </a:extLst>
          </p:cNvPr>
          <p:cNvSpPr txBox="1"/>
          <p:nvPr/>
        </p:nvSpPr>
        <p:spPr>
          <a:xfrm>
            <a:off x="8342604" y="5881716"/>
            <a:ext cx="718466" cy="338554"/>
          </a:xfrm>
          <a:prstGeom prst="rect">
            <a:avLst/>
          </a:prstGeom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pPr algn="ctr"/>
            <a:r>
              <a:rPr lang="en-US" sz="1600" b="1" dirty="0">
                <a:latin typeface="LMRoman10" panose="02000503020200000003" pitchFamily="2" charset="77"/>
                <a:cs typeface="LMRoman10" panose="02000503020200000003" pitchFamily="2" charset="77"/>
              </a:rPr>
              <a:t>Time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9472480-0575-723E-2CBE-74C9739276F4}"/>
              </a:ext>
            </a:extLst>
          </p:cNvPr>
          <p:cNvSpPr txBox="1"/>
          <p:nvPr/>
        </p:nvSpPr>
        <p:spPr>
          <a:xfrm>
            <a:off x="2119794" y="5900397"/>
            <a:ext cx="137730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LMRoman10" panose="02000503020200000003" pitchFamily="2" charset="77"/>
                <a:cs typeface="LMRoman10" panose="02000503020200000003" pitchFamily="2" charset="77"/>
              </a:rPr>
              <a:t>Incubation period</a:t>
            </a:r>
          </a:p>
          <a:p>
            <a:r>
              <a:rPr lang="en-US" sz="1200" dirty="0">
                <a:latin typeface="LMRoman10" panose="02000503020200000003" pitchFamily="2" charset="77"/>
                <a:cs typeface="LMRoman10" panose="02000503020200000003" pitchFamily="2" charset="77"/>
              </a:rPr>
              <a:t>~ weeks-months</a:t>
            </a:r>
          </a:p>
        </p:txBody>
      </p:sp>
      <p:sp>
        <p:nvSpPr>
          <p:cNvPr id="45" name="Up-down Arrow 44">
            <a:extLst>
              <a:ext uri="{FF2B5EF4-FFF2-40B4-BE49-F238E27FC236}">
                <a16:creationId xmlns:a16="http://schemas.microsoft.com/office/drawing/2014/main" id="{55C18247-89D6-38B9-D656-77AE3B71D500}"/>
              </a:ext>
            </a:extLst>
          </p:cNvPr>
          <p:cNvSpPr/>
          <p:nvPr/>
        </p:nvSpPr>
        <p:spPr>
          <a:xfrm rot="5400000">
            <a:off x="5125053" y="4968190"/>
            <a:ext cx="124361" cy="1795795"/>
          </a:xfrm>
          <a:prstGeom prst="upDownArrow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LMRoman10" panose="02000503020200000003" pitchFamily="2" charset="77"/>
              <a:cs typeface="LMRoman10" panose="02000503020200000003" pitchFamily="2" charset="77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74C9BC32-215C-7649-670D-D04499F6F303}"/>
              </a:ext>
            </a:extLst>
          </p:cNvPr>
          <p:cNvSpPr txBox="1"/>
          <p:nvPr/>
        </p:nvSpPr>
        <p:spPr>
          <a:xfrm>
            <a:off x="4224481" y="5927347"/>
            <a:ext cx="188505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>
                <a:latin typeface="LMRoman10" panose="02000503020200000003" pitchFamily="2" charset="77"/>
                <a:cs typeface="LMRoman10" panose="02000503020200000003" pitchFamily="2" charset="77"/>
              </a:rPr>
              <a:t>Fever/symptom duration</a:t>
            </a:r>
          </a:p>
          <a:p>
            <a:pPr algn="ctr"/>
            <a:r>
              <a:rPr lang="en-US" sz="1200" dirty="0">
                <a:latin typeface="LMRoman10" panose="02000503020200000003" pitchFamily="2" charset="77"/>
                <a:cs typeface="LMRoman10" panose="02000503020200000003" pitchFamily="2" charset="77"/>
              </a:rPr>
              <a:t>~ 30-40 days</a:t>
            </a:r>
          </a:p>
        </p:txBody>
      </p:sp>
      <p:sp>
        <p:nvSpPr>
          <p:cNvPr id="48" name="Up-down Arrow 47">
            <a:extLst>
              <a:ext uri="{FF2B5EF4-FFF2-40B4-BE49-F238E27FC236}">
                <a16:creationId xmlns:a16="http://schemas.microsoft.com/office/drawing/2014/main" id="{6BC57978-8501-D2AB-6BC6-31B428079290}"/>
              </a:ext>
            </a:extLst>
          </p:cNvPr>
          <p:cNvSpPr/>
          <p:nvPr/>
        </p:nvSpPr>
        <p:spPr>
          <a:xfrm rot="5400000">
            <a:off x="2672103" y="4470107"/>
            <a:ext cx="124361" cy="2791963"/>
          </a:xfrm>
          <a:prstGeom prst="upDownArrow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LMRoman10" panose="02000503020200000003" pitchFamily="2" charset="77"/>
              <a:cs typeface="LMRoman10" panose="02000503020200000003" pitchFamily="2" charset="77"/>
            </a:endParaRPr>
          </a:p>
        </p:txBody>
      </p:sp>
      <p:sp>
        <p:nvSpPr>
          <p:cNvPr id="49" name="Up-down Arrow 48">
            <a:extLst>
              <a:ext uri="{FF2B5EF4-FFF2-40B4-BE49-F238E27FC236}">
                <a16:creationId xmlns:a16="http://schemas.microsoft.com/office/drawing/2014/main" id="{E0E96A23-2DF5-5325-2622-2036B0F67C16}"/>
              </a:ext>
            </a:extLst>
          </p:cNvPr>
          <p:cNvSpPr/>
          <p:nvPr/>
        </p:nvSpPr>
        <p:spPr>
          <a:xfrm rot="5400000">
            <a:off x="6411178" y="5574900"/>
            <a:ext cx="123440" cy="581455"/>
          </a:xfrm>
          <a:prstGeom prst="upDownArrow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LMRoman10" panose="02000503020200000003" pitchFamily="2" charset="77"/>
              <a:cs typeface="LMRoman10" panose="02000503020200000003" pitchFamily="2" charset="77"/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4681EBA5-7969-8145-9BB9-EC3921EB3946}"/>
              </a:ext>
            </a:extLst>
          </p:cNvPr>
          <p:cNvSpPr txBox="1"/>
          <p:nvPr/>
        </p:nvSpPr>
        <p:spPr>
          <a:xfrm>
            <a:off x="5989325" y="5942039"/>
            <a:ext cx="98103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200" dirty="0">
                <a:latin typeface="LMRoman10" panose="02000503020200000003" pitchFamily="2" charset="77"/>
                <a:cs typeface="LMRoman10" panose="02000503020200000003" pitchFamily="2" charset="77"/>
              </a:rPr>
              <a:t>Rx</a:t>
            </a:r>
          </a:p>
          <a:p>
            <a:pPr algn="ctr"/>
            <a:r>
              <a:rPr lang="en-US" sz="1200" dirty="0">
                <a:latin typeface="LMRoman10" panose="02000503020200000003" pitchFamily="2" charset="77"/>
                <a:cs typeface="LMRoman10" panose="02000503020200000003" pitchFamily="2" charset="77"/>
              </a:rPr>
              <a:t>1-30 days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C7991913-F23B-926E-5CC2-453400C05F74}"/>
              </a:ext>
            </a:extLst>
          </p:cNvPr>
          <p:cNvSpPr txBox="1"/>
          <p:nvPr/>
        </p:nvSpPr>
        <p:spPr>
          <a:xfrm rot="286261">
            <a:off x="1737425" y="5242412"/>
            <a:ext cx="2986189" cy="276999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200" b="1" dirty="0">
                <a:latin typeface="LMRoman10" panose="02000503020200000003" pitchFamily="2" charset="77"/>
                <a:cs typeface="LMRoman10" panose="02000503020200000003" pitchFamily="2" charset="77"/>
              </a:rPr>
              <a:t>Early immune control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07F689D6-2FFE-93E2-2AAB-D689867E59EC}"/>
              </a:ext>
            </a:extLst>
          </p:cNvPr>
          <p:cNvSpPr txBox="1"/>
          <p:nvPr/>
        </p:nvSpPr>
        <p:spPr>
          <a:xfrm rot="19839727">
            <a:off x="2255226" y="4243227"/>
            <a:ext cx="1924529" cy="276999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200" b="1" dirty="0">
                <a:latin typeface="LMRoman10" panose="02000503020200000003" pitchFamily="2" charset="77"/>
                <a:cs typeface="LMRoman10" panose="02000503020200000003" pitchFamily="2" charset="77"/>
              </a:rPr>
              <a:t>Immune escape</a:t>
            </a:r>
          </a:p>
        </p:txBody>
      </p: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4F034299-B45C-AF76-45CC-62D8E65B67E4}"/>
              </a:ext>
            </a:extLst>
          </p:cNvPr>
          <p:cNvCxnSpPr>
            <a:cxnSpLocks/>
          </p:cNvCxnSpPr>
          <p:nvPr/>
        </p:nvCxnSpPr>
        <p:spPr>
          <a:xfrm flipV="1">
            <a:off x="4155399" y="2462385"/>
            <a:ext cx="1980622" cy="1597953"/>
          </a:xfrm>
          <a:prstGeom prst="line">
            <a:avLst/>
          </a:prstGeom>
          <a:ln w="571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BE9D53AE-F605-1B64-E372-1330413C426C}"/>
              </a:ext>
            </a:extLst>
          </p:cNvPr>
          <p:cNvCxnSpPr>
            <a:cxnSpLocks/>
          </p:cNvCxnSpPr>
          <p:nvPr/>
        </p:nvCxnSpPr>
        <p:spPr>
          <a:xfrm flipV="1">
            <a:off x="4719835" y="2760795"/>
            <a:ext cx="340610" cy="791769"/>
          </a:xfrm>
          <a:prstGeom prst="line">
            <a:avLst/>
          </a:prstGeom>
          <a:ln w="57150">
            <a:solidFill>
              <a:srgbClr val="C00000"/>
            </a:solidFill>
            <a:prstDash val="sysDot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7" name="TextBox 76">
            <a:extLst>
              <a:ext uri="{FF2B5EF4-FFF2-40B4-BE49-F238E27FC236}">
                <a16:creationId xmlns:a16="http://schemas.microsoft.com/office/drawing/2014/main" id="{FF949A54-CD36-26EE-3595-D0CC6B166B3F}"/>
              </a:ext>
            </a:extLst>
          </p:cNvPr>
          <p:cNvSpPr txBox="1"/>
          <p:nvPr/>
        </p:nvSpPr>
        <p:spPr>
          <a:xfrm>
            <a:off x="4722296" y="2438326"/>
            <a:ext cx="756696" cy="307777"/>
          </a:xfrm>
          <a:prstGeom prst="rect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400" b="1" dirty="0">
                <a:solidFill>
                  <a:schemeClr val="bg1"/>
                </a:solidFill>
                <a:latin typeface="LMRoman10" panose="02000503020200000003" pitchFamily="2" charset="77"/>
                <a:cs typeface="LMRoman10" panose="02000503020200000003" pitchFamily="2" charset="77"/>
              </a:rPr>
              <a:t>Death</a:t>
            </a:r>
          </a:p>
        </p:txBody>
      </p: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82719561-0DC1-5E1C-78EA-08BC6760F148}"/>
              </a:ext>
            </a:extLst>
          </p:cNvPr>
          <p:cNvCxnSpPr>
            <a:cxnSpLocks/>
          </p:cNvCxnSpPr>
          <p:nvPr/>
        </p:nvCxnSpPr>
        <p:spPr>
          <a:xfrm flipH="1" flipV="1">
            <a:off x="6116218" y="2438842"/>
            <a:ext cx="2411842" cy="2748134"/>
          </a:xfrm>
          <a:prstGeom prst="line">
            <a:avLst/>
          </a:prstGeom>
          <a:ln w="571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5" name="TextBox 84">
            <a:extLst>
              <a:ext uri="{FF2B5EF4-FFF2-40B4-BE49-F238E27FC236}">
                <a16:creationId xmlns:a16="http://schemas.microsoft.com/office/drawing/2014/main" id="{18C47B05-872D-4721-0CDF-28ED2DF4E8EE}"/>
              </a:ext>
            </a:extLst>
          </p:cNvPr>
          <p:cNvSpPr txBox="1"/>
          <p:nvPr/>
        </p:nvSpPr>
        <p:spPr>
          <a:xfrm rot="2944750">
            <a:off x="6519691" y="3769486"/>
            <a:ext cx="2210862" cy="276999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pPr algn="ctr"/>
            <a:r>
              <a:rPr lang="en-US" sz="1200" b="1" dirty="0">
                <a:latin typeface="LMRoman10" panose="02000503020200000003" pitchFamily="2" charset="77"/>
                <a:cs typeface="LMRoman10" panose="02000503020200000003" pitchFamily="2" charset="77"/>
              </a:rPr>
              <a:t>Initial treatment response</a:t>
            </a:r>
          </a:p>
        </p:txBody>
      </p:sp>
      <p:cxnSp>
        <p:nvCxnSpPr>
          <p:cNvPr id="94" name="Straight Connector 93">
            <a:extLst>
              <a:ext uri="{FF2B5EF4-FFF2-40B4-BE49-F238E27FC236}">
                <a16:creationId xmlns:a16="http://schemas.microsoft.com/office/drawing/2014/main" id="{D2448CDD-58C6-45AB-F64F-2AA5921AE9C7}"/>
              </a:ext>
            </a:extLst>
          </p:cNvPr>
          <p:cNvCxnSpPr>
            <a:cxnSpLocks/>
          </p:cNvCxnSpPr>
          <p:nvPr/>
        </p:nvCxnSpPr>
        <p:spPr>
          <a:xfrm flipH="1">
            <a:off x="8524027" y="3730560"/>
            <a:ext cx="2882597" cy="1425817"/>
          </a:xfrm>
          <a:prstGeom prst="line">
            <a:avLst/>
          </a:prstGeom>
          <a:ln w="57150">
            <a:prstDash val="sysDot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2" name="TextBox 111">
            <a:extLst>
              <a:ext uri="{FF2B5EF4-FFF2-40B4-BE49-F238E27FC236}">
                <a16:creationId xmlns:a16="http://schemas.microsoft.com/office/drawing/2014/main" id="{8EC4904D-0427-E8D4-A695-E8D4CAB35197}"/>
              </a:ext>
            </a:extLst>
          </p:cNvPr>
          <p:cNvSpPr txBox="1"/>
          <p:nvPr/>
        </p:nvSpPr>
        <p:spPr>
          <a:xfrm>
            <a:off x="1377309" y="1001588"/>
            <a:ext cx="277809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b="1" dirty="0">
                <a:latin typeface="LMRoman10" panose="02000503020200000003" pitchFamily="2" charset="77"/>
                <a:cs typeface="LMRoman10" panose="02000503020200000003" pitchFamily="2" charset="77"/>
              </a:rPr>
              <a:t>ASYMPTOMATIC </a:t>
            </a:r>
          </a:p>
          <a:p>
            <a:pPr algn="ctr"/>
            <a:r>
              <a:rPr lang="en-US" sz="1400" b="1" dirty="0">
                <a:latin typeface="LMRoman10" panose="02000503020200000003" pitchFamily="2" charset="77"/>
                <a:cs typeface="LMRoman10" panose="02000503020200000003" pitchFamily="2" charset="77"/>
              </a:rPr>
              <a:t>STAGE</a:t>
            </a: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CC7B88FD-D5D1-4036-1FC8-8C952F52D008}"/>
              </a:ext>
            </a:extLst>
          </p:cNvPr>
          <p:cNvSpPr txBox="1"/>
          <p:nvPr/>
        </p:nvSpPr>
        <p:spPr>
          <a:xfrm>
            <a:off x="4130265" y="991675"/>
            <a:ext cx="210920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b="1" dirty="0">
                <a:latin typeface="LMRoman10" panose="02000503020200000003" pitchFamily="2" charset="77"/>
                <a:cs typeface="LMRoman10" panose="02000503020200000003" pitchFamily="2" charset="77"/>
              </a:rPr>
              <a:t>SYMPTOMATIC </a:t>
            </a:r>
          </a:p>
          <a:p>
            <a:pPr algn="ctr"/>
            <a:r>
              <a:rPr lang="en-US" sz="1400" b="1" dirty="0">
                <a:latin typeface="LMRoman10" panose="02000503020200000003" pitchFamily="2" charset="77"/>
                <a:cs typeface="LMRoman10" panose="02000503020200000003" pitchFamily="2" charset="77"/>
              </a:rPr>
              <a:t>STAGE</a:t>
            </a:r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D509DB51-B4BE-C15C-85DF-76BEF61FE750}"/>
              </a:ext>
            </a:extLst>
          </p:cNvPr>
          <p:cNvSpPr txBox="1"/>
          <p:nvPr/>
        </p:nvSpPr>
        <p:spPr>
          <a:xfrm>
            <a:off x="5543380" y="994936"/>
            <a:ext cx="185736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1" dirty="0">
                <a:latin typeface="LMRoman10" panose="02000503020200000003" pitchFamily="2" charset="77"/>
                <a:cs typeface="LMRoman10" panose="02000503020200000003" pitchFamily="2" charset="77"/>
              </a:rPr>
              <a:t>Rx</a:t>
            </a: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1294A0CA-67E0-D04F-CC91-72A9713374EF}"/>
              </a:ext>
            </a:extLst>
          </p:cNvPr>
          <p:cNvSpPr txBox="1"/>
          <p:nvPr/>
        </p:nvSpPr>
        <p:spPr>
          <a:xfrm>
            <a:off x="7252733" y="991675"/>
            <a:ext cx="369307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b="1" dirty="0">
                <a:latin typeface="LMRoman10" panose="02000503020200000003" pitchFamily="2" charset="77"/>
                <a:cs typeface="LMRoman10" panose="02000503020200000003" pitchFamily="2" charset="77"/>
              </a:rPr>
              <a:t>POST-TREATMENT </a:t>
            </a:r>
          </a:p>
          <a:p>
            <a:pPr algn="ctr"/>
            <a:r>
              <a:rPr lang="en-US" sz="1400" b="1" dirty="0">
                <a:latin typeface="LMRoman10" panose="02000503020200000003" pitchFamily="2" charset="77"/>
                <a:cs typeface="LMRoman10" panose="02000503020200000003" pitchFamily="2" charset="77"/>
              </a:rPr>
              <a:t>STAGE</a:t>
            </a:r>
          </a:p>
        </p:txBody>
      </p:sp>
      <p:cxnSp>
        <p:nvCxnSpPr>
          <p:cNvPr id="117" name="Straight Connector 116">
            <a:extLst>
              <a:ext uri="{FF2B5EF4-FFF2-40B4-BE49-F238E27FC236}">
                <a16:creationId xmlns:a16="http://schemas.microsoft.com/office/drawing/2014/main" id="{23D98EED-7803-ACD7-4CE1-CB63A6FB0497}"/>
              </a:ext>
            </a:extLst>
          </p:cNvPr>
          <p:cNvCxnSpPr>
            <a:cxnSpLocks/>
          </p:cNvCxnSpPr>
          <p:nvPr/>
        </p:nvCxnSpPr>
        <p:spPr>
          <a:xfrm flipV="1">
            <a:off x="6147310" y="2010549"/>
            <a:ext cx="254178" cy="478388"/>
          </a:xfrm>
          <a:prstGeom prst="line">
            <a:avLst/>
          </a:prstGeom>
          <a:ln w="57150">
            <a:solidFill>
              <a:srgbClr val="C00000"/>
            </a:solidFill>
            <a:prstDash val="sysDot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9" name="TextBox 118">
            <a:extLst>
              <a:ext uri="{FF2B5EF4-FFF2-40B4-BE49-F238E27FC236}">
                <a16:creationId xmlns:a16="http://schemas.microsoft.com/office/drawing/2014/main" id="{9A724F54-8797-6243-C55F-D698A1ADF07E}"/>
              </a:ext>
            </a:extLst>
          </p:cNvPr>
          <p:cNvSpPr txBox="1"/>
          <p:nvPr/>
        </p:nvSpPr>
        <p:spPr>
          <a:xfrm>
            <a:off x="6364455" y="1785276"/>
            <a:ext cx="756696" cy="307777"/>
          </a:xfrm>
          <a:prstGeom prst="rect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400" b="1" dirty="0">
                <a:solidFill>
                  <a:schemeClr val="bg1"/>
                </a:solidFill>
                <a:latin typeface="LMRoman10" panose="02000503020200000003" pitchFamily="2" charset="77"/>
                <a:cs typeface="LMRoman10" panose="02000503020200000003" pitchFamily="2" charset="77"/>
              </a:rPr>
              <a:t>Death</a:t>
            </a:r>
          </a:p>
        </p:txBody>
      </p:sp>
      <p:cxnSp>
        <p:nvCxnSpPr>
          <p:cNvPr id="120" name="Straight Connector 119">
            <a:extLst>
              <a:ext uri="{FF2B5EF4-FFF2-40B4-BE49-F238E27FC236}">
                <a16:creationId xmlns:a16="http://schemas.microsoft.com/office/drawing/2014/main" id="{9453917A-DCE3-940E-889B-6E2369DC0506}"/>
              </a:ext>
            </a:extLst>
          </p:cNvPr>
          <p:cNvCxnSpPr>
            <a:cxnSpLocks/>
          </p:cNvCxnSpPr>
          <p:nvPr/>
        </p:nvCxnSpPr>
        <p:spPr>
          <a:xfrm>
            <a:off x="6143091" y="2459594"/>
            <a:ext cx="1301879" cy="531300"/>
          </a:xfrm>
          <a:prstGeom prst="line">
            <a:avLst/>
          </a:prstGeom>
          <a:ln w="57150">
            <a:solidFill>
              <a:schemeClr val="accent2">
                <a:lumMod val="75000"/>
              </a:schemeClr>
            </a:solidFill>
            <a:prstDash val="sysDot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4" name="TextBox 123">
            <a:extLst>
              <a:ext uri="{FF2B5EF4-FFF2-40B4-BE49-F238E27FC236}">
                <a16:creationId xmlns:a16="http://schemas.microsoft.com/office/drawing/2014/main" id="{43BDF884-8C8C-953C-73DF-9C1A8348943E}"/>
              </a:ext>
            </a:extLst>
          </p:cNvPr>
          <p:cNvSpPr txBox="1"/>
          <p:nvPr/>
        </p:nvSpPr>
        <p:spPr>
          <a:xfrm>
            <a:off x="7444970" y="2959490"/>
            <a:ext cx="2263803" cy="307777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400" b="1" dirty="0">
                <a:solidFill>
                  <a:schemeClr val="bg1"/>
                </a:solidFill>
                <a:latin typeface="LMRoman10" panose="02000503020200000003" pitchFamily="2" charset="77"/>
                <a:cs typeface="LMRoman10" panose="02000503020200000003" pitchFamily="2" charset="77"/>
              </a:rPr>
              <a:t>Poor clinical response</a:t>
            </a:r>
          </a:p>
        </p:txBody>
      </p:sp>
      <p:sp>
        <p:nvSpPr>
          <p:cNvPr id="142" name="Triangle 141">
            <a:extLst>
              <a:ext uri="{FF2B5EF4-FFF2-40B4-BE49-F238E27FC236}">
                <a16:creationId xmlns:a16="http://schemas.microsoft.com/office/drawing/2014/main" id="{A2880C98-2C17-A228-7659-7B97225E61F0}"/>
              </a:ext>
            </a:extLst>
          </p:cNvPr>
          <p:cNvSpPr/>
          <p:nvPr/>
        </p:nvSpPr>
        <p:spPr>
          <a:xfrm rot="16200000">
            <a:off x="10668407" y="2311936"/>
            <a:ext cx="307777" cy="1205494"/>
          </a:xfrm>
          <a:prstGeom prst="triangle">
            <a:avLst>
              <a:gd name="adj" fmla="val 53141"/>
            </a:avLst>
          </a:prstGeom>
          <a:gradFill>
            <a:gsLst>
              <a:gs pos="100000">
                <a:srgbClr val="FF0000"/>
              </a:gs>
              <a:gs pos="0">
                <a:srgbClr val="FFC000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LMRoman10" panose="02000503020200000003" pitchFamily="2" charset="77"/>
              <a:cs typeface="LMRoman10" panose="02000503020200000003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16735484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6" grpId="0" animBg="1"/>
      <p:bldP spid="10" grpId="0" animBg="1"/>
      <p:bldP spid="15" grpId="0" animBg="1"/>
      <p:bldP spid="16" grpId="0" animBg="1"/>
      <p:bldP spid="23" grpId="0"/>
      <p:bldP spid="29" grpId="0" animBg="1"/>
      <p:bldP spid="30" grpId="0" animBg="1"/>
      <p:bldP spid="2" grpId="0" animBg="1"/>
      <p:bldP spid="19" grpId="0"/>
      <p:bldP spid="59" grpId="0" animBg="1"/>
      <p:bldP spid="68" grpId="0"/>
      <p:bldP spid="77" grpId="0" animBg="1"/>
      <p:bldP spid="85" grpId="0" animBg="1"/>
      <p:bldP spid="119" grpId="0" animBg="1"/>
      <p:bldP spid="124" grpId="0" animBg="1"/>
      <p:bldP spid="142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1045</TotalTime>
  <Words>45</Words>
  <Application>Microsoft Macintosh PowerPoint</Application>
  <PresentationFormat>Widescreen</PresentationFormat>
  <Paragraphs>27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7" baseType="lpstr">
      <vt:lpstr>Aptos</vt:lpstr>
      <vt:lpstr>Aptos Display</vt:lpstr>
      <vt:lpstr>Arial</vt:lpstr>
      <vt:lpstr>Cambria Math</vt:lpstr>
      <vt:lpstr>LMRoman10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James Wilson</dc:creator>
  <cp:lastModifiedBy>James Wilson</cp:lastModifiedBy>
  <cp:revision>61</cp:revision>
  <dcterms:created xsi:type="dcterms:W3CDTF">2026-01-22T17:32:03Z</dcterms:created>
  <dcterms:modified xsi:type="dcterms:W3CDTF">2026-01-26T05:07:13Z</dcterms:modified>
</cp:coreProperties>
</file>