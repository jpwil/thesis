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729"/>
  </p:normalViewPr>
  <p:slideViewPr>
    <p:cSldViewPr snapToGrid="0">
      <p:cViewPr>
        <p:scale>
          <a:sx n="222" d="100"/>
          <a:sy n="222" d="100"/>
        </p:scale>
        <p:origin x="-2552" y="-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6D33B0-171F-F945-807F-D985FFD852EE}" type="datetimeFigureOut">
              <a:rPr lang="en-US" smtClean="0"/>
              <a:t>3/7/26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15E7FC-8F6D-B34E-B8C1-673A0EF9F6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172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15E7FC-8F6D-B34E-B8C1-673A0EF9F6F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812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E9BDD-4064-D23D-C8AC-CB5D9F4A13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BB6F4C-6F8C-2708-7B81-B5ABA7A3E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71B16-92DD-FC11-712A-4361759E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EDFB4-6A1B-ADAC-1A54-67CFB7901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E0E3-B471-3E7E-0D5E-15A88BF5F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93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DDF3D-DC72-F5FB-BF37-E01E90DAC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DDA02-89E1-22AC-68E8-4540DCB59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37C78-D09A-589C-2FD6-A259271D0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6E362-7BAB-98AD-A01F-3F0C7F84B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7AEE7-5F72-3C0F-0D0C-2244109B6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96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3B269-1B77-6AA2-B9B5-38FAB4B1E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7A8FC-0C59-4EC5-34D7-9ACBA6FF62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765A5-FBF3-36DF-7C4F-3B9695279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A751F-40E2-43AA-6AEB-BBCC98589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529F5-B935-06EB-693E-6FE60630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918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46493-E31C-B426-3B57-FE9E094B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C323F-01F1-1F27-5401-AD996359B6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065B71-B01C-1EDA-2897-4EF494212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9F3CB3-2A72-83F3-64DE-E9991C66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D417ED-1DD7-E900-C8CF-990AF75EF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DCE384-B8A6-56AC-06AB-D79C2DE2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20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604AC-635C-5F36-8EFC-3EA72A55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33BF8-D1EB-4441-95E9-5956F3991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5F871-EA8D-57F3-73AF-F83DCEB9F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A676AB-44F3-EA7E-006D-1D42776C5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E9A9A-4848-745F-6927-5A41E9E062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752A34-5F4C-6907-B9F2-28BA29AD7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D6D2B4-E04A-6D15-9165-C26D1662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7B1A9-9490-62A4-97F8-8C3BD28D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79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E9A53-02CD-5DAC-D6FC-0BBC65133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67475A-F7FA-A329-F319-B1D1C672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F89678-33C0-AD0A-1759-365A30B66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5EDCD5-0B9D-821B-0751-216436266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668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9C4B28-330E-8001-3EFE-F23C12BA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B01D2D-5BEE-1A44-AC63-055661A35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1EE6AE-7274-3D57-84F8-E85EE15F9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3B332-C106-10FF-5D36-0AD5024F5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AAB90-CEFE-44DC-D5AB-6D2DCE7B7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8B515D-5415-2B46-BCB6-27C20C1DD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8CDE5-6276-6E2A-6D5D-31711BE18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170A9D-DC14-2F5B-EBE7-7C62419E0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14BD8-58EB-2B87-4B8B-BAF3815C4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584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3ED49-CC61-CD84-B3C3-69F4D1F6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7B684D-C9C5-8279-46A7-BA211557CA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D9476-C052-C238-C670-6B894AF03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8DA96E-D668-2886-73DD-308170101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4EF96-D0BB-6E31-B741-FAC4E5E2D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19AD4-FEF8-A801-4F2D-093B5E2EF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661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57243-C566-A13C-D909-6481469AC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F314AC-73C0-E632-B857-1B690F5E51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9423F-39F3-9845-F123-CDC5CACF8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8FB43-D525-C69F-44E6-6A9DA991E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D71E3-83C9-66C6-4D94-0E5618F1B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42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6BC2B-653D-B69A-07C7-BDEB14126C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0F1EA8-7393-BB5F-D456-889A4D3120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2DDD06-F976-9981-EC35-147DE171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29FB8-4639-BF49-3EB0-38D439E6B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4CC409-E601-BB3F-5A07-AD31149C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87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5D0F9F-3C19-C6CC-BE9C-D6A7BF59B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08CFC-10C3-81E2-4761-D7016C141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F8EB81-2899-A3A1-DCF5-1B6B4ABF43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58C29F-F1EB-8C4C-AF6F-C694BFB8D1CA}" type="datetimeFigureOut">
              <a:rPr lang="en-US" smtClean="0"/>
              <a:t>3/3/26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CB356-8605-5B13-4BAA-BA002966E9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03EB5-8208-B1C4-BAC7-458D73218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E1F8F-9870-B845-85DD-21C9FC2BC3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651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9C1D6EF-3050-0CDF-3FC3-B7E8C169A250}"/>
              </a:ext>
            </a:extLst>
          </p:cNvPr>
          <p:cNvCxnSpPr>
            <a:cxnSpLocks/>
          </p:cNvCxnSpPr>
          <p:nvPr/>
        </p:nvCxnSpPr>
        <p:spPr>
          <a:xfrm flipH="1">
            <a:off x="3500714" y="3814435"/>
            <a:ext cx="278094" cy="657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8DB5F2A5-F3A2-8778-6E07-C63CED55691A}"/>
              </a:ext>
            </a:extLst>
          </p:cNvPr>
          <p:cNvCxnSpPr>
            <a:cxnSpLocks/>
          </p:cNvCxnSpPr>
          <p:nvPr/>
        </p:nvCxnSpPr>
        <p:spPr>
          <a:xfrm>
            <a:off x="2371013" y="3809419"/>
            <a:ext cx="413264" cy="667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8A031F7C-B0AE-12B4-A418-4EBC2E181756}"/>
              </a:ext>
            </a:extLst>
          </p:cNvPr>
          <p:cNvCxnSpPr>
            <a:cxnSpLocks/>
          </p:cNvCxnSpPr>
          <p:nvPr/>
        </p:nvCxnSpPr>
        <p:spPr>
          <a:xfrm flipV="1">
            <a:off x="5582431" y="2488919"/>
            <a:ext cx="433" cy="2547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Straight Arrow Connector 421">
            <a:extLst>
              <a:ext uri="{FF2B5EF4-FFF2-40B4-BE49-F238E27FC236}">
                <a16:creationId xmlns:a16="http://schemas.microsoft.com/office/drawing/2014/main" id="{13130AB1-3C42-203D-CFA2-58C804A9C26D}"/>
              </a:ext>
            </a:extLst>
          </p:cNvPr>
          <p:cNvCxnSpPr>
            <a:cxnSpLocks/>
          </p:cNvCxnSpPr>
          <p:nvPr/>
        </p:nvCxnSpPr>
        <p:spPr>
          <a:xfrm flipH="1">
            <a:off x="3923310" y="2040469"/>
            <a:ext cx="4098" cy="12230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Arrow Connector 315">
            <a:extLst>
              <a:ext uri="{FF2B5EF4-FFF2-40B4-BE49-F238E27FC236}">
                <a16:creationId xmlns:a16="http://schemas.microsoft.com/office/drawing/2014/main" id="{93C35D6F-AE26-C547-A080-3EE4098E5928}"/>
              </a:ext>
            </a:extLst>
          </p:cNvPr>
          <p:cNvCxnSpPr>
            <a:cxnSpLocks/>
            <a:endCxn id="53" idx="0"/>
          </p:cNvCxnSpPr>
          <p:nvPr/>
        </p:nvCxnSpPr>
        <p:spPr>
          <a:xfrm flipH="1">
            <a:off x="7692465" y="1344308"/>
            <a:ext cx="819775" cy="10129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Rectangle 408">
            <a:extLst>
              <a:ext uri="{FF2B5EF4-FFF2-40B4-BE49-F238E27FC236}">
                <a16:creationId xmlns:a16="http://schemas.microsoft.com/office/drawing/2014/main" id="{731B7612-4219-CFF5-A78D-317B85F19622}"/>
              </a:ext>
            </a:extLst>
          </p:cNvPr>
          <p:cNvSpPr/>
          <p:nvPr/>
        </p:nvSpPr>
        <p:spPr>
          <a:xfrm>
            <a:off x="1844913" y="625932"/>
            <a:ext cx="2504148" cy="14829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MRoman10" panose="02000503020200000003" pitchFamily="2" charset="77"/>
              <a:cs typeface="LMRoman10" panose="02000503020200000003" pitchFamily="2" charset="77"/>
            </a:endParaRPr>
          </a:p>
        </p:txBody>
      </p:sp>
      <p:cxnSp>
        <p:nvCxnSpPr>
          <p:cNvPr id="385" name="Straight Arrow Connector 384">
            <a:extLst>
              <a:ext uri="{FF2B5EF4-FFF2-40B4-BE49-F238E27FC236}">
                <a16:creationId xmlns:a16="http://schemas.microsoft.com/office/drawing/2014/main" id="{5A5CD7FE-D28A-648D-959E-BB5B1C3EB74E}"/>
              </a:ext>
            </a:extLst>
          </p:cNvPr>
          <p:cNvCxnSpPr>
            <a:cxnSpLocks/>
          </p:cNvCxnSpPr>
          <p:nvPr/>
        </p:nvCxnSpPr>
        <p:spPr>
          <a:xfrm flipH="1">
            <a:off x="4349850" y="2354833"/>
            <a:ext cx="528005" cy="9315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traight Arrow Connector 262">
            <a:extLst>
              <a:ext uri="{FF2B5EF4-FFF2-40B4-BE49-F238E27FC236}">
                <a16:creationId xmlns:a16="http://schemas.microsoft.com/office/drawing/2014/main" id="{AC785CA3-6C67-C45E-B205-BB8BCB531209}"/>
              </a:ext>
            </a:extLst>
          </p:cNvPr>
          <p:cNvCxnSpPr>
            <a:cxnSpLocks/>
          </p:cNvCxnSpPr>
          <p:nvPr/>
        </p:nvCxnSpPr>
        <p:spPr>
          <a:xfrm flipH="1" flipV="1">
            <a:off x="5391805" y="1630443"/>
            <a:ext cx="54668" cy="2978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71F45AC4-1833-13FF-7931-D9F4D03C9714}"/>
              </a:ext>
            </a:extLst>
          </p:cNvPr>
          <p:cNvCxnSpPr>
            <a:cxnSpLocks/>
          </p:cNvCxnSpPr>
          <p:nvPr/>
        </p:nvCxnSpPr>
        <p:spPr>
          <a:xfrm flipH="1" flipV="1">
            <a:off x="6294369" y="3217181"/>
            <a:ext cx="1128302" cy="1854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AE3E57AB-A3C6-646F-1916-F549D97062F3}"/>
              </a:ext>
            </a:extLst>
          </p:cNvPr>
          <p:cNvCxnSpPr>
            <a:cxnSpLocks/>
          </p:cNvCxnSpPr>
          <p:nvPr/>
        </p:nvCxnSpPr>
        <p:spPr>
          <a:xfrm flipH="1">
            <a:off x="6287998" y="2687744"/>
            <a:ext cx="831768" cy="2960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0C9737A-0764-7288-644F-FBB6224397BE}"/>
              </a:ext>
            </a:extLst>
          </p:cNvPr>
          <p:cNvCxnSpPr>
            <a:cxnSpLocks/>
          </p:cNvCxnSpPr>
          <p:nvPr/>
        </p:nvCxnSpPr>
        <p:spPr>
          <a:xfrm flipH="1">
            <a:off x="5582926" y="4052774"/>
            <a:ext cx="1" cy="41956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894AE3BE-DEAA-51C2-3E03-D676B953F68D}"/>
              </a:ext>
            </a:extLst>
          </p:cNvPr>
          <p:cNvCxnSpPr>
            <a:cxnSpLocks/>
          </p:cNvCxnSpPr>
          <p:nvPr/>
        </p:nvCxnSpPr>
        <p:spPr>
          <a:xfrm flipH="1">
            <a:off x="5901176" y="878181"/>
            <a:ext cx="447071" cy="3312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Arrow Connector 234">
            <a:extLst>
              <a:ext uri="{FF2B5EF4-FFF2-40B4-BE49-F238E27FC236}">
                <a16:creationId xmlns:a16="http://schemas.microsoft.com/office/drawing/2014/main" id="{AF3E1ACC-7615-AA03-175C-7140583B3292}"/>
              </a:ext>
            </a:extLst>
          </p:cNvPr>
          <p:cNvCxnSpPr>
            <a:cxnSpLocks/>
            <a:stCxn id="228" idx="1"/>
          </p:cNvCxnSpPr>
          <p:nvPr/>
        </p:nvCxnSpPr>
        <p:spPr>
          <a:xfrm flipH="1" flipV="1">
            <a:off x="5908883" y="1492454"/>
            <a:ext cx="407834" cy="1162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0482195A-C871-7DB5-3FD8-A931249001BC}"/>
              </a:ext>
            </a:extLst>
          </p:cNvPr>
          <p:cNvCxnSpPr>
            <a:cxnSpLocks/>
          </p:cNvCxnSpPr>
          <p:nvPr/>
        </p:nvCxnSpPr>
        <p:spPr>
          <a:xfrm flipH="1">
            <a:off x="4040089" y="3935153"/>
            <a:ext cx="1024024" cy="554311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50B0BDC-A74E-83AA-BFC8-4172FA7838F8}"/>
              </a:ext>
            </a:extLst>
          </p:cNvPr>
          <p:cNvCxnSpPr>
            <a:cxnSpLocks/>
          </p:cNvCxnSpPr>
          <p:nvPr/>
        </p:nvCxnSpPr>
        <p:spPr>
          <a:xfrm>
            <a:off x="4036322" y="4763266"/>
            <a:ext cx="835162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1590B001-5F58-7E7E-C7C8-530423206333}"/>
              </a:ext>
            </a:extLst>
          </p:cNvPr>
          <p:cNvCxnSpPr>
            <a:cxnSpLocks/>
          </p:cNvCxnSpPr>
          <p:nvPr/>
        </p:nvCxnSpPr>
        <p:spPr>
          <a:xfrm flipH="1">
            <a:off x="6426374" y="4763265"/>
            <a:ext cx="749719" cy="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7463BBCA-3E36-0EF3-1704-E21469B08D27}"/>
              </a:ext>
            </a:extLst>
          </p:cNvPr>
          <p:cNvCxnSpPr>
            <a:cxnSpLocks/>
            <a:stCxn id="168" idx="1"/>
          </p:cNvCxnSpPr>
          <p:nvPr/>
        </p:nvCxnSpPr>
        <p:spPr>
          <a:xfrm flipH="1">
            <a:off x="7918025" y="1215143"/>
            <a:ext cx="485864" cy="3935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282E507-ED53-2F17-BD8F-AEE7A0F5F8B7}"/>
              </a:ext>
            </a:extLst>
          </p:cNvPr>
          <p:cNvSpPr/>
          <p:nvPr/>
        </p:nvSpPr>
        <p:spPr>
          <a:xfrm>
            <a:off x="4892504" y="4482978"/>
            <a:ext cx="1512850" cy="560575"/>
          </a:xfrm>
          <a:prstGeom prst="roundRect">
            <a:avLst/>
          </a:prstGeom>
          <a:solidFill>
            <a:srgbClr val="FFC000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Relapse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A6A4ED7-0F69-41E8-841B-2FB303FAD8F4}"/>
              </a:ext>
            </a:extLst>
          </p:cNvPr>
          <p:cNvSpPr/>
          <p:nvPr/>
        </p:nvSpPr>
        <p:spPr>
          <a:xfrm>
            <a:off x="2544492" y="4482978"/>
            <a:ext cx="1512850" cy="560575"/>
          </a:xfrm>
          <a:prstGeom prst="roundRect">
            <a:avLst/>
          </a:prstGeom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Parasite grade (post-treatment)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128CDC8-3C98-5823-C690-E2A6EDE65DE4}"/>
              </a:ext>
            </a:extLst>
          </p:cNvPr>
          <p:cNvSpPr/>
          <p:nvPr/>
        </p:nvSpPr>
        <p:spPr>
          <a:xfrm>
            <a:off x="4892504" y="2743696"/>
            <a:ext cx="1391355" cy="5605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Host immunity (disease onset)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7AA810A-D672-6601-6A83-207710F76B00}"/>
              </a:ext>
            </a:extLst>
          </p:cNvPr>
          <p:cNvSpPr/>
          <p:nvPr/>
        </p:nvSpPr>
        <p:spPr>
          <a:xfrm>
            <a:off x="7179208" y="4482978"/>
            <a:ext cx="1209455" cy="560575"/>
          </a:xfrm>
          <a:prstGeom prst="roundRect">
            <a:avLst/>
          </a:prstGeom>
          <a:solidFill>
            <a:schemeClr val="accent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Parasite fitness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70EF384B-4BC3-0971-267F-D8BB6013B140}"/>
              </a:ext>
            </a:extLst>
          </p:cNvPr>
          <p:cNvSpPr/>
          <p:nvPr/>
        </p:nvSpPr>
        <p:spPr>
          <a:xfrm>
            <a:off x="2979623" y="3286621"/>
            <a:ext cx="1391354" cy="5605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Parasite grade (at presentation)</a:t>
            </a: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1BCBC2A1-9D87-09EF-3662-F9397316B68B}"/>
              </a:ext>
            </a:extLst>
          </p:cNvPr>
          <p:cNvSpPr/>
          <p:nvPr/>
        </p:nvSpPr>
        <p:spPr>
          <a:xfrm>
            <a:off x="1844914" y="3248651"/>
            <a:ext cx="971338" cy="5605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Treatment regimen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4A3706D8-3FE4-95EA-3D9D-6D900D5BD2C5}"/>
              </a:ext>
            </a:extLst>
          </p:cNvPr>
          <p:cNvSpPr/>
          <p:nvPr/>
        </p:nvSpPr>
        <p:spPr>
          <a:xfrm>
            <a:off x="4876964" y="1928342"/>
            <a:ext cx="1423301" cy="5605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Rate of symptom progression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B553DC7-D7C1-F661-B793-152A776BB931}"/>
              </a:ext>
            </a:extLst>
          </p:cNvPr>
          <p:cNvSpPr/>
          <p:nvPr/>
        </p:nvSpPr>
        <p:spPr>
          <a:xfrm>
            <a:off x="7397555" y="3129058"/>
            <a:ext cx="655747" cy="5605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Age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28DF7E2-2337-35F0-9039-6D5BCE6CC20A}"/>
              </a:ext>
            </a:extLst>
          </p:cNvPr>
          <p:cNvSpPr/>
          <p:nvPr/>
        </p:nvSpPr>
        <p:spPr>
          <a:xfrm>
            <a:off x="3397865" y="1086556"/>
            <a:ext cx="773861" cy="5605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Spleen size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E1F36C3A-10E1-5357-8123-3566D76D7294}"/>
              </a:ext>
            </a:extLst>
          </p:cNvPr>
          <p:cNvSpPr/>
          <p:nvPr/>
        </p:nvSpPr>
        <p:spPr>
          <a:xfrm>
            <a:off x="2130274" y="1421387"/>
            <a:ext cx="936069" cy="5605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White cell count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DE5A24D7-451A-FF28-915A-957B3A35AACD}"/>
              </a:ext>
            </a:extLst>
          </p:cNvPr>
          <p:cNvSpPr/>
          <p:nvPr/>
        </p:nvSpPr>
        <p:spPr>
          <a:xfrm>
            <a:off x="2130273" y="722443"/>
            <a:ext cx="936069" cy="5605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Severe anaemia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5E8F0F56-6707-DC3C-758B-C1514D146C3E}"/>
              </a:ext>
            </a:extLst>
          </p:cNvPr>
          <p:cNvSpPr/>
          <p:nvPr/>
        </p:nvSpPr>
        <p:spPr>
          <a:xfrm>
            <a:off x="7039200" y="2357235"/>
            <a:ext cx="1306529" cy="5605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Malnutrition (disease onset)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00F812F1-0702-CB13-493E-5B23A35A5DB2}"/>
              </a:ext>
            </a:extLst>
          </p:cNvPr>
          <p:cNvSpPr/>
          <p:nvPr/>
        </p:nvSpPr>
        <p:spPr>
          <a:xfrm>
            <a:off x="6316717" y="625932"/>
            <a:ext cx="1601308" cy="5465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Access to healthcare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A60700E7-B7F1-4F65-DCEA-E50E154152A9}"/>
              </a:ext>
            </a:extLst>
          </p:cNvPr>
          <p:cNvCxnSpPr>
            <a:cxnSpLocks/>
            <a:endCxn id="51" idx="3"/>
          </p:cNvCxnSpPr>
          <p:nvPr/>
        </p:nvCxnSpPr>
        <p:spPr>
          <a:xfrm flipH="1">
            <a:off x="3066343" y="1501958"/>
            <a:ext cx="331522" cy="1997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20F4F64D-52C2-AAAD-F97D-871317DEA4BC}"/>
              </a:ext>
            </a:extLst>
          </p:cNvPr>
          <p:cNvCxnSpPr>
            <a:cxnSpLocks/>
            <a:endCxn id="52" idx="3"/>
          </p:cNvCxnSpPr>
          <p:nvPr/>
        </p:nvCxnSpPr>
        <p:spPr>
          <a:xfrm flipH="1" flipV="1">
            <a:off x="3066342" y="1002731"/>
            <a:ext cx="331523" cy="218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F2E8D400-63A7-AED9-6FC8-FF76BE58F3EA}"/>
              </a:ext>
            </a:extLst>
          </p:cNvPr>
          <p:cNvSpPr/>
          <p:nvPr/>
        </p:nvSpPr>
        <p:spPr>
          <a:xfrm>
            <a:off x="4610445" y="1101683"/>
            <a:ext cx="1287928" cy="52772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Symptom/fever duration</a:t>
            </a:r>
          </a:p>
        </p:txBody>
      </p: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9FA3EBEF-6B9B-AC47-CD5C-72A2068568A3}"/>
              </a:ext>
            </a:extLst>
          </p:cNvPr>
          <p:cNvSpPr/>
          <p:nvPr/>
        </p:nvSpPr>
        <p:spPr>
          <a:xfrm>
            <a:off x="8403889" y="934855"/>
            <a:ext cx="1029220" cy="56057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Poverty</a:t>
            </a:r>
          </a:p>
        </p:txBody>
      </p:sp>
      <p:sp>
        <p:nvSpPr>
          <p:cNvPr id="228" name="Rounded Rectangle 227">
            <a:extLst>
              <a:ext uri="{FF2B5EF4-FFF2-40B4-BE49-F238E27FC236}">
                <a16:creationId xmlns:a16="http://schemas.microsoft.com/office/drawing/2014/main" id="{3B5C515F-22B4-FC17-3735-325FAB147178}"/>
              </a:ext>
            </a:extLst>
          </p:cNvPr>
          <p:cNvSpPr/>
          <p:nvPr/>
        </p:nvSpPr>
        <p:spPr>
          <a:xfrm>
            <a:off x="6316717" y="1335466"/>
            <a:ext cx="1601308" cy="54653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Symptom threshold for attending healthcare</a:t>
            </a:r>
          </a:p>
        </p:txBody>
      </p:sp>
      <p:cxnSp>
        <p:nvCxnSpPr>
          <p:cNvPr id="240" name="Straight Arrow Connector 239">
            <a:extLst>
              <a:ext uri="{FF2B5EF4-FFF2-40B4-BE49-F238E27FC236}">
                <a16:creationId xmlns:a16="http://schemas.microsoft.com/office/drawing/2014/main" id="{2FB4514B-B5D3-7C4E-CF1A-6BBE47DA844F}"/>
              </a:ext>
            </a:extLst>
          </p:cNvPr>
          <p:cNvCxnSpPr>
            <a:cxnSpLocks/>
            <a:stCxn id="168" idx="1"/>
            <a:endCxn id="80" idx="3"/>
          </p:cNvCxnSpPr>
          <p:nvPr/>
        </p:nvCxnSpPr>
        <p:spPr>
          <a:xfrm flipH="1" flipV="1">
            <a:off x="7918025" y="899201"/>
            <a:ext cx="485864" cy="3159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Rounded Rectangle 254">
            <a:extLst>
              <a:ext uri="{FF2B5EF4-FFF2-40B4-BE49-F238E27FC236}">
                <a16:creationId xmlns:a16="http://schemas.microsoft.com/office/drawing/2014/main" id="{055C887B-04B1-8F3D-AE02-10B241207BA4}"/>
              </a:ext>
            </a:extLst>
          </p:cNvPr>
          <p:cNvSpPr/>
          <p:nvPr/>
        </p:nvSpPr>
        <p:spPr>
          <a:xfrm>
            <a:off x="2283973" y="2351200"/>
            <a:ext cx="1423301" cy="56057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Malnutrition</a:t>
            </a:r>
          </a:p>
          <a:p>
            <a:pPr algn="ctr"/>
            <a:r>
              <a:rPr lang="en-US" sz="1200" dirty="0">
                <a:solidFill>
                  <a:sysClr val="windowText" lastClr="000000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(at presentation)</a:t>
            </a:r>
          </a:p>
        </p:txBody>
      </p:sp>
      <p:cxnSp>
        <p:nvCxnSpPr>
          <p:cNvPr id="258" name="Straight Arrow Connector 257">
            <a:extLst>
              <a:ext uri="{FF2B5EF4-FFF2-40B4-BE49-F238E27FC236}">
                <a16:creationId xmlns:a16="http://schemas.microsoft.com/office/drawing/2014/main" id="{07144673-1659-8EC5-4F41-8A4F4EBFC92A}"/>
              </a:ext>
            </a:extLst>
          </p:cNvPr>
          <p:cNvCxnSpPr>
            <a:cxnSpLocks/>
          </p:cNvCxnSpPr>
          <p:nvPr/>
        </p:nvCxnSpPr>
        <p:spPr>
          <a:xfrm>
            <a:off x="5582926" y="3300008"/>
            <a:ext cx="0" cy="2910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0E103301-7C29-0ADE-3C08-E0A07F6E58B2}"/>
              </a:ext>
            </a:extLst>
          </p:cNvPr>
          <p:cNvCxnSpPr>
            <a:cxnSpLocks/>
          </p:cNvCxnSpPr>
          <p:nvPr/>
        </p:nvCxnSpPr>
        <p:spPr>
          <a:xfrm flipH="1">
            <a:off x="4097341" y="1640174"/>
            <a:ext cx="930788" cy="1635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B0679C4B-B7B7-3B3C-94B3-4A067AB4E483}"/>
              </a:ext>
            </a:extLst>
          </p:cNvPr>
          <p:cNvCxnSpPr>
            <a:cxnSpLocks/>
            <a:stCxn id="53" idx="1"/>
            <a:endCxn id="255" idx="3"/>
          </p:cNvCxnSpPr>
          <p:nvPr/>
        </p:nvCxnSpPr>
        <p:spPr>
          <a:xfrm flipH="1" flipV="1">
            <a:off x="3707274" y="2631488"/>
            <a:ext cx="3331926" cy="6035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675633E1-F1F1-AB00-510A-58A724B1C637}"/>
              </a:ext>
            </a:extLst>
          </p:cNvPr>
          <p:cNvCxnSpPr>
            <a:cxnSpLocks/>
            <a:stCxn id="51" idx="2"/>
            <a:endCxn id="255" idx="0"/>
          </p:cNvCxnSpPr>
          <p:nvPr/>
        </p:nvCxnSpPr>
        <p:spPr>
          <a:xfrm>
            <a:off x="2598309" y="1981962"/>
            <a:ext cx="397315" cy="36923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3" name="Rounded Rectangle 322">
            <a:extLst>
              <a:ext uri="{FF2B5EF4-FFF2-40B4-BE49-F238E27FC236}">
                <a16:creationId xmlns:a16="http://schemas.microsoft.com/office/drawing/2014/main" id="{38A7024E-FDD3-CCB3-AF50-8744ED8EE273}"/>
              </a:ext>
            </a:extLst>
          </p:cNvPr>
          <p:cNvSpPr/>
          <p:nvPr/>
        </p:nvSpPr>
        <p:spPr>
          <a:xfrm>
            <a:off x="4892504" y="3595309"/>
            <a:ext cx="1391355" cy="560575"/>
          </a:xfrm>
          <a:prstGeom prst="round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LMRoman10" panose="02000503020200000003" pitchFamily="2" charset="77"/>
                <a:cs typeface="LMRoman10" panose="02000503020200000003" pitchFamily="2" charset="77"/>
              </a:rPr>
              <a:t>Host immunity (Post-treatment)</a:t>
            </a:r>
          </a:p>
        </p:txBody>
      </p:sp>
      <p:cxnSp>
        <p:nvCxnSpPr>
          <p:cNvPr id="336" name="Straight Arrow Connector 335">
            <a:extLst>
              <a:ext uri="{FF2B5EF4-FFF2-40B4-BE49-F238E27FC236}">
                <a16:creationId xmlns:a16="http://schemas.microsoft.com/office/drawing/2014/main" id="{217FE42B-A8CA-AE0F-2351-BB625CFCB26D}"/>
              </a:ext>
            </a:extLst>
          </p:cNvPr>
          <p:cNvCxnSpPr>
            <a:cxnSpLocks/>
            <a:stCxn id="46" idx="3"/>
            <a:endCxn id="323" idx="1"/>
          </p:cNvCxnSpPr>
          <p:nvPr/>
        </p:nvCxnSpPr>
        <p:spPr>
          <a:xfrm>
            <a:off x="4370977" y="3566909"/>
            <a:ext cx="521527" cy="308688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Straight Arrow Connector 359">
            <a:extLst>
              <a:ext uri="{FF2B5EF4-FFF2-40B4-BE49-F238E27FC236}">
                <a16:creationId xmlns:a16="http://schemas.microsoft.com/office/drawing/2014/main" id="{1F92F8B5-89C2-C25E-3046-E674A7641D55}"/>
              </a:ext>
            </a:extLst>
          </p:cNvPr>
          <p:cNvCxnSpPr>
            <a:cxnSpLocks/>
          </p:cNvCxnSpPr>
          <p:nvPr/>
        </p:nvCxnSpPr>
        <p:spPr>
          <a:xfrm>
            <a:off x="3707274" y="2741364"/>
            <a:ext cx="1359381" cy="838219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0" name="Straight Arrow Connector 379">
            <a:extLst>
              <a:ext uri="{FF2B5EF4-FFF2-40B4-BE49-F238E27FC236}">
                <a16:creationId xmlns:a16="http://schemas.microsoft.com/office/drawing/2014/main" id="{5D10761F-5B5C-7D71-70F0-99943295E706}"/>
              </a:ext>
            </a:extLst>
          </p:cNvPr>
          <p:cNvCxnSpPr>
            <a:cxnSpLocks/>
          </p:cNvCxnSpPr>
          <p:nvPr/>
        </p:nvCxnSpPr>
        <p:spPr>
          <a:xfrm flipH="1" flipV="1">
            <a:off x="6273349" y="2489174"/>
            <a:ext cx="1103186" cy="1972527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Straight Arrow Connector 409">
            <a:extLst>
              <a:ext uri="{FF2B5EF4-FFF2-40B4-BE49-F238E27FC236}">
                <a16:creationId xmlns:a16="http://schemas.microsoft.com/office/drawing/2014/main" id="{E267A682-4DB0-C72F-CEF8-E4E4DED91F35}"/>
              </a:ext>
            </a:extLst>
          </p:cNvPr>
          <p:cNvCxnSpPr>
            <a:cxnSpLocks/>
            <a:stCxn id="130" idx="1"/>
            <a:endCxn id="409" idx="3"/>
          </p:cNvCxnSpPr>
          <p:nvPr/>
        </p:nvCxnSpPr>
        <p:spPr>
          <a:xfrm flipH="1">
            <a:off x="4349061" y="1365545"/>
            <a:ext cx="261384" cy="1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413">
            <a:extLst>
              <a:ext uri="{FF2B5EF4-FFF2-40B4-BE49-F238E27FC236}">
                <a16:creationId xmlns:a16="http://schemas.microsoft.com/office/drawing/2014/main" id="{8636850C-B58E-A594-6795-6172B95C4381}"/>
              </a:ext>
            </a:extLst>
          </p:cNvPr>
          <p:cNvCxnSpPr>
            <a:cxnSpLocks/>
            <a:stCxn id="48" idx="1"/>
          </p:cNvCxnSpPr>
          <p:nvPr/>
        </p:nvCxnSpPr>
        <p:spPr>
          <a:xfrm flipH="1" flipV="1">
            <a:off x="4384517" y="2001444"/>
            <a:ext cx="492447" cy="207186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8" name="Straight Arrow Connector 427">
            <a:extLst>
              <a:ext uri="{FF2B5EF4-FFF2-40B4-BE49-F238E27FC236}">
                <a16:creationId xmlns:a16="http://schemas.microsoft.com/office/drawing/2014/main" id="{D6D5820D-E6A2-33CD-F339-1E93BBEAC4FD}"/>
              </a:ext>
            </a:extLst>
          </p:cNvPr>
          <p:cNvCxnSpPr>
            <a:cxnSpLocks/>
          </p:cNvCxnSpPr>
          <p:nvPr/>
        </p:nvCxnSpPr>
        <p:spPr>
          <a:xfrm flipH="1" flipV="1">
            <a:off x="3707274" y="2488917"/>
            <a:ext cx="826260" cy="3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Straight Arrow Connector 430">
            <a:extLst>
              <a:ext uri="{FF2B5EF4-FFF2-40B4-BE49-F238E27FC236}">
                <a16:creationId xmlns:a16="http://schemas.microsoft.com/office/drawing/2014/main" id="{9CE94022-9DAD-1FE3-F475-01CDB146E1D8}"/>
              </a:ext>
            </a:extLst>
          </p:cNvPr>
          <p:cNvCxnSpPr>
            <a:cxnSpLocks/>
          </p:cNvCxnSpPr>
          <p:nvPr/>
        </p:nvCxnSpPr>
        <p:spPr>
          <a:xfrm>
            <a:off x="3450505" y="2922542"/>
            <a:ext cx="0" cy="3356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36ADC5CE-20D9-85B2-5A6C-4D6ABDBF1453}"/>
              </a:ext>
            </a:extLst>
          </p:cNvPr>
          <p:cNvSpPr txBox="1"/>
          <p:nvPr/>
        </p:nvSpPr>
        <p:spPr>
          <a:xfrm>
            <a:off x="1763053" y="357111"/>
            <a:ext cx="24753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LMRoman10" panose="02000503020200000003" pitchFamily="2" charset="77"/>
                <a:cs typeface="LMRoman10" panose="02000503020200000003" pitchFamily="2" charset="77"/>
              </a:rPr>
              <a:t>Symptom severity at presentation</a:t>
            </a:r>
          </a:p>
        </p:txBody>
      </p:sp>
    </p:spTree>
    <p:extLst>
      <p:ext uri="{BB962C8B-B14F-4D97-AF65-F5344CB8AC3E}">
        <p14:creationId xmlns:p14="http://schemas.microsoft.com/office/powerpoint/2010/main" val="9135703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5832</TotalTime>
  <Words>67</Words>
  <Application>Microsoft Macintosh PowerPoint</Application>
  <PresentationFormat>Widescreen</PresentationFormat>
  <Paragraphs>21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LMRoman10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Wilson</dc:creator>
  <cp:lastModifiedBy>James Wilson</cp:lastModifiedBy>
  <cp:revision>64</cp:revision>
  <dcterms:created xsi:type="dcterms:W3CDTF">2026-03-03T16:19:05Z</dcterms:created>
  <dcterms:modified xsi:type="dcterms:W3CDTF">2026-03-07T17:32:05Z</dcterms:modified>
</cp:coreProperties>
</file>