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43"/>
    <p:restoredTop sz="79616"/>
  </p:normalViewPr>
  <p:slideViewPr>
    <p:cSldViewPr snapToGrid="0">
      <p:cViewPr varScale="1">
        <p:scale>
          <a:sx n="92" d="100"/>
          <a:sy n="92" d="100"/>
        </p:scale>
        <p:origin x="1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7332F-BF70-7445-BAA7-FCA6F72FE16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C1E748-3632-6B46-8F81-7D04C2702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47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323323323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C1E748-3632-6B46-8F81-7D04C27024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77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90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87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2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63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0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35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2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20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87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94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2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BD2B12-4F7F-A14D-9235-8D69C2AF331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555B94-2CCF-144D-BAF8-FFF292603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04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D59112-EBFA-BABC-1438-E685F4568DAE}"/>
              </a:ext>
            </a:extLst>
          </p:cNvPr>
          <p:cNvSpPr txBox="1"/>
          <p:nvPr/>
        </p:nvSpPr>
        <p:spPr>
          <a:xfrm>
            <a:off x="1819385" y="1024872"/>
            <a:ext cx="1939099" cy="542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63" dirty="0"/>
              <a:t>43 curated studies</a:t>
            </a:r>
          </a:p>
          <a:p>
            <a:r>
              <a:rPr lang="en-US" sz="1463" dirty="0"/>
              <a:t>14,253 participants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0AFC19-E244-F084-59F4-76375A62EF6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788935" y="1567456"/>
            <a:ext cx="20782" cy="36211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320F01F-957B-1897-8006-F27E76D5B519}"/>
              </a:ext>
            </a:extLst>
          </p:cNvPr>
          <p:cNvSpPr txBox="1"/>
          <p:nvPr/>
        </p:nvSpPr>
        <p:spPr>
          <a:xfrm>
            <a:off x="4095670" y="1902595"/>
            <a:ext cx="5006764" cy="121796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63" b="1" dirty="0"/>
              <a:t>Excluded studies</a:t>
            </a:r>
          </a:p>
          <a:p>
            <a:r>
              <a:rPr lang="en-US" sz="1463" dirty="0"/>
              <a:t>PKDL (4 studies, n = 241)</a:t>
            </a:r>
          </a:p>
          <a:p>
            <a:r>
              <a:rPr lang="en-US" sz="1463" dirty="0"/>
              <a:t>Retrospective design (4 studies, n = 5,045)</a:t>
            </a:r>
          </a:p>
          <a:p>
            <a:r>
              <a:rPr lang="en-US" sz="1463" dirty="0"/>
              <a:t>Not conducted in East Africa (25 studies, n = 6,038)</a:t>
            </a:r>
          </a:p>
          <a:p>
            <a:r>
              <a:rPr lang="en-US" sz="1463" dirty="0"/>
              <a:t>Mixed design/Informed consent not gained (1 study, n = 180)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2F7CA7-797C-7109-2EF7-0F89699C87A0}"/>
              </a:ext>
            </a:extLst>
          </p:cNvPr>
          <p:cNvCxnSpPr>
            <a:cxnSpLocks/>
          </p:cNvCxnSpPr>
          <p:nvPr/>
        </p:nvCxnSpPr>
        <p:spPr>
          <a:xfrm>
            <a:off x="2809717" y="2453334"/>
            <a:ext cx="12859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0DC6D09-C615-E638-52D5-3F06DF1CE9B4}"/>
              </a:ext>
            </a:extLst>
          </p:cNvPr>
          <p:cNvSpPr txBox="1"/>
          <p:nvPr/>
        </p:nvSpPr>
        <p:spPr>
          <a:xfrm>
            <a:off x="1819386" y="3218847"/>
            <a:ext cx="1939096" cy="542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63" dirty="0"/>
              <a:t>9 curated studies</a:t>
            </a:r>
          </a:p>
          <a:p>
            <a:r>
              <a:rPr lang="en-US" sz="1463" dirty="0"/>
              <a:t>2,749 participants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EE0780-6932-F277-96FB-3CCD7131309F}"/>
              </a:ext>
            </a:extLst>
          </p:cNvPr>
          <p:cNvCxnSpPr>
            <a:cxnSpLocks/>
          </p:cNvCxnSpPr>
          <p:nvPr/>
        </p:nvCxnSpPr>
        <p:spPr>
          <a:xfrm>
            <a:off x="2809717" y="4446400"/>
            <a:ext cx="12859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A09EA68-DE62-346B-68B7-D45F585C968E}"/>
              </a:ext>
            </a:extLst>
          </p:cNvPr>
          <p:cNvSpPr txBox="1"/>
          <p:nvPr/>
        </p:nvSpPr>
        <p:spPr>
          <a:xfrm>
            <a:off x="4095668" y="3641220"/>
            <a:ext cx="5006766" cy="1217962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63" b="1" dirty="0"/>
              <a:t>Excluded participants</a:t>
            </a:r>
          </a:p>
          <a:p>
            <a:r>
              <a:rPr lang="en-US" sz="1463" dirty="0"/>
              <a:t>Positive HIV test (n = 130)</a:t>
            </a:r>
          </a:p>
          <a:p>
            <a:r>
              <a:rPr lang="en-US" sz="1463" dirty="0"/>
              <a:t>HIV status unknown </a:t>
            </a:r>
            <a:r>
              <a:rPr lang="en-US" sz="1463" i="1" dirty="0"/>
              <a:t>and</a:t>
            </a:r>
            <a:r>
              <a:rPr lang="en-US" sz="1463" dirty="0"/>
              <a:t> high-risk area (n = 240)</a:t>
            </a:r>
          </a:p>
          <a:p>
            <a:r>
              <a:rPr lang="en-US" sz="1463" dirty="0"/>
              <a:t>Did not achieve initial cure (n = 323)</a:t>
            </a:r>
          </a:p>
          <a:p>
            <a:r>
              <a:rPr lang="en-US" sz="1463" dirty="0"/>
              <a:t>Died following initial cure and before 6 months (n = 5)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E2D6DF-C057-09A2-F81C-CD4C3017C763}"/>
              </a:ext>
            </a:extLst>
          </p:cNvPr>
          <p:cNvSpPr txBox="1"/>
          <p:nvPr/>
        </p:nvSpPr>
        <p:spPr>
          <a:xfrm>
            <a:off x="1819383" y="5188651"/>
            <a:ext cx="1939099" cy="542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63" dirty="0"/>
              <a:t>9 curated studies</a:t>
            </a:r>
          </a:p>
          <a:p>
            <a:r>
              <a:rPr lang="en-US" sz="1463" dirty="0"/>
              <a:t>2,051 participants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1A03CD-6C06-9EE1-88A5-DEFC0B5EF426}"/>
              </a:ext>
            </a:extLst>
          </p:cNvPr>
          <p:cNvSpPr txBox="1"/>
          <p:nvPr/>
        </p:nvSpPr>
        <p:spPr>
          <a:xfrm>
            <a:off x="1819383" y="651318"/>
            <a:ext cx="2614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IDDO VL Repository 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FE4C426A-F328-279F-E73F-E7464FE61911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758482" y="5459943"/>
            <a:ext cx="2628463" cy="542584"/>
          </a:xfrm>
          <a:prstGeom prst="bentConnector3">
            <a:avLst>
              <a:gd name="adj1" fmla="val 100074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1DFD31-6044-0BC4-0BFF-1AD47BD15BE0}"/>
              </a:ext>
            </a:extLst>
          </p:cNvPr>
          <p:cNvCxnSpPr>
            <a:stCxn id="18" idx="2"/>
          </p:cNvCxnSpPr>
          <p:nvPr/>
        </p:nvCxnSpPr>
        <p:spPr>
          <a:xfrm>
            <a:off x="2788933" y="5731235"/>
            <a:ext cx="2" cy="27129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488F75-4DF2-54CE-4CF4-10AFCD374067}"/>
              </a:ext>
            </a:extLst>
          </p:cNvPr>
          <p:cNvSpPr txBox="1"/>
          <p:nvPr/>
        </p:nvSpPr>
        <p:spPr>
          <a:xfrm>
            <a:off x="2157921" y="6000517"/>
            <a:ext cx="1323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Final Cure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99CF62-66BC-EE2A-2062-A27686384937}"/>
              </a:ext>
            </a:extLst>
          </p:cNvPr>
          <p:cNvSpPr txBox="1"/>
          <p:nvPr/>
        </p:nvSpPr>
        <p:spPr>
          <a:xfrm>
            <a:off x="5896422" y="6008831"/>
            <a:ext cx="1086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Relapse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30C9F1-1B87-B2FF-3469-706E865C5AFA}"/>
              </a:ext>
            </a:extLst>
          </p:cNvPr>
          <p:cNvSpPr txBox="1"/>
          <p:nvPr/>
        </p:nvSpPr>
        <p:spPr>
          <a:xfrm>
            <a:off x="1585805" y="6335584"/>
            <a:ext cx="2406253" cy="3174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63" dirty="0"/>
              <a:t>1,952 participants (95.2%)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A0333C-E252-07C2-EF61-169DDAFCBF9C}"/>
              </a:ext>
            </a:extLst>
          </p:cNvPr>
          <p:cNvSpPr txBox="1"/>
          <p:nvPr/>
        </p:nvSpPr>
        <p:spPr>
          <a:xfrm>
            <a:off x="5342036" y="6335584"/>
            <a:ext cx="2089818" cy="3174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63" dirty="0"/>
              <a:t>99 participants (4.8%)</a:t>
            </a:r>
          </a:p>
        </p:txBody>
      </p:sp>
    </p:spTree>
    <p:extLst>
      <p:ext uri="{BB962C8B-B14F-4D97-AF65-F5344CB8AC3E}">
        <p14:creationId xmlns:p14="http://schemas.microsoft.com/office/powerpoint/2010/main" val="2908875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5812</TotalTime>
  <Words>126</Words>
  <Application>Microsoft Macintosh PowerPoint</Application>
  <PresentationFormat>A4 Paper (210x297 mm)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Wilson1, James (RTH) OUH</dc:creator>
  <cp:lastModifiedBy>James Wilson</cp:lastModifiedBy>
  <cp:revision>15</cp:revision>
  <dcterms:created xsi:type="dcterms:W3CDTF">2025-07-03T15:45:28Z</dcterms:created>
  <dcterms:modified xsi:type="dcterms:W3CDTF">2025-12-07T18:40:50Z</dcterms:modified>
</cp:coreProperties>
</file>